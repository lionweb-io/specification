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github.com/LionWeb-io/specification/blob/main/resources/LangDev%202025%20Talk.pdf" TargetMode="External"/><Relationship Id="rId10" Type="http://schemas.openxmlformats.org/officeDocument/2006/relationships/hyperlink" Target="https://www.b2match.com/e/mbse-2025/sessions/c2Vzc2lvbjoyMDA5MzM=" TargetMode="External"/><Relationship Id="rId11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3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63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34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27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21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2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3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4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5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6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33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28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29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0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1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2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53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35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6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7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8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9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0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1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2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3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4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5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6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62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54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64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67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68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71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74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72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73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75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77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8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9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0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1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85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83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4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14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196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86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7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8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9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0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1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2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3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4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5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07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197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0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0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09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13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1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12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18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15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6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7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84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19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0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1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22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34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23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4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5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6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7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8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9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0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1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2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3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46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35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5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8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47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7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6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59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3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4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4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67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9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0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1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2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7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75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6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80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9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83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8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2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292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85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6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7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8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9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0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1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293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</a:t>
            </a:r>
          </a:p>
        </p:txBody>
      </p:sp>
      <p:sp>
        <p:nvSpPr>
          <p:cNvPr id="294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01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297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295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6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00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29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09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02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05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03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4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08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20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12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10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1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15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13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4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18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16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7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19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26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21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24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22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23" name="Protocols (bulk + delta)…"/>
              <p:cNvSpPr txBox="1"/>
              <p:nvPr/>
            </p:nvSpPr>
            <p:spPr>
              <a:xfrm>
                <a:off x="603513" y="126764"/>
                <a:ext cx="4023565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 + Protobuf*)</a:t>
                </a:r>
              </a:p>
            </p:txBody>
          </p:sp>
        </p:grpSp>
        <p:pic>
          <p:nvPicPr>
            <p:cNvPr id="325" name="Graphic 6" descr="Graphic 6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27" name="Graphic 13" descr="Graphic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5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30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2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54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31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2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3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4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5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6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7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50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38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39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0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1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42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3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4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5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6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7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8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9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53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51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52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  <p:sp>
        <p:nvSpPr>
          <p:cNvPr id="356" name="Text Placeholder 2"/>
          <p:cNvSpPr txBox="1"/>
          <p:nvPr/>
        </p:nvSpPr>
        <p:spPr>
          <a:xfrm>
            <a:off x="8264849" y="6342440"/>
            <a:ext cx="1121758" cy="25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indent="95501" defTabSz="438911">
              <a:lnSpc>
                <a:spcPct val="115000"/>
              </a:lnSpc>
              <a:spcBef>
                <a:spcPts val="100"/>
              </a:spcBef>
              <a:buFont typeface="Arial"/>
              <a:defRPr sz="1152">
                <a:solidFill>
                  <a:srgbClr val="1F2328"/>
                </a:solidFill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*) unofficial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59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(slides,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2026 — Industry Day (slides &lt;== TODO)</a:t>
            </a:r>
          </a:p>
        </p:txBody>
      </p:sp>
      <p:pic>
        <p:nvPicPr>
          <p:cNvPr id="360" name="Graphic 3" descr="Graphic 3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LangDev’26</a:t>
            </a:r>
          </a:p>
        </p:txBody>
      </p:sp>
      <p:graphicFrame>
        <p:nvGraphicFramePr>
          <p:cNvPr id="363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66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67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Outreach</a:t>
            </a:r>
          </a:p>
        </p:txBody>
      </p:sp>
      <p:sp>
        <p:nvSpPr>
          <p:cNvPr id="370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  <a:br/>
          </a:p>
          <a:p>
            <a:pPr marL="342900" indent="-342900"/>
            <a:r>
              <a:t>Office hours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  <a:br/>
          </a:p>
          <a:p>
            <a:pPr marL="342900" indent="-342900"/>
            <a:r>
              <a:t>Progress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2026.1 (now!)</a:t>
            </a:r>
          </a:p>
          <a:p>
            <a:pPr lvl="2" marL="12573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specification</a:t>
            </a:r>
            <a:r>
              <a:t>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Implementation of Delta Protocol in C#, TypeScript, JVM, and server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OpenAPI spec.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Progress</a:t>
            </a:r>
          </a:p>
        </p:txBody>
      </p:sp>
      <p:sp>
        <p:nvSpPr>
          <p:cNvPr id="373" name="Content Placeholder 2"/>
          <p:cNvSpPr txBox="1"/>
          <p:nvPr>
            <p:ph type="body" idx="1"/>
          </p:nvPr>
        </p:nvSpPr>
        <p:spPr>
          <a:xfrm>
            <a:off x="614358" y="1483360"/>
            <a:ext cx="10515601" cy="4867745"/>
          </a:xfrm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</a:pPr>
            <a:r>
              <a:t>Released 2026.1 (now!)</a:t>
            </a:r>
          </a:p>
          <a:p>
            <a:pPr lvl="2" marL="0" indent="457200">
              <a:buSzTx/>
              <a:buNone/>
            </a:pPr>
            <a:r>
              <a:t>Main feature: Delta Protocol(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link</a:t>
            </a:r>
            <a:r>
              <a:t>)</a:t>
            </a:r>
          </a:p>
          <a:p>
            <a:pPr lvl="1" marL="0" indent="228600">
              <a:buSzTx/>
              <a:buNone/>
            </a:pPr>
            <a:r>
              <a:t>Implementation of Delta Protocol in C#, TypeScript, JVM, and server</a:t>
            </a:r>
          </a:p>
          <a:p>
            <a:pPr lvl="1" marL="0" indent="228600">
              <a:buSzTx/>
              <a:buNone/>
            </a:pPr>
            <a:r>
              <a:t>OpenAPI spec.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76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Released as part of 2026.1</a:t>
            </a:r>
          </a:p>
          <a:p>
            <a:pPr/>
            <a:r>
              <a:t>Is seeing heavy use </a:t>
            </a:r>
            <a:r>
              <a:rPr i="1"/>
              <a:t>in production</a:t>
            </a:r>
            <a:r>
              <a:t> with at least one customer</a:t>
            </a:r>
          </a:p>
          <a:p>
            <a:pPr lvl="1" marL="0" indent="731519">
              <a:buSzTx/>
              <a:buNone/>
            </a:pPr>
            <a:r>
              <a:t>— Spec and implementations turn out to be a very good fit</a:t>
            </a:r>
          </a:p>
          <a:p>
            <a:pPr/>
            <a:r>
              <a:t>Changes since last year:</a:t>
            </a:r>
          </a:p>
          <a:p>
            <a:pPr lvl="1" marL="0" indent="731519">
              <a:buSzTx/>
              <a:buNone/>
            </a:pPr>
            <a:r>
              <a:t>Command and event names more consistent</a:t>
            </a:r>
          </a:p>
          <a:p>
            <a:pPr lvl="1" marL="0" indent="731519">
              <a:buSzTx/>
              <a:buNone/>
            </a:pPr>
            <a:r>
              <a:t>Chunked messages</a:t>
            </a:r>
          </a:p>
          <a:p>
            <a:pPr lvl="1" marL="0" indent="731519">
              <a:buSzTx/>
              <a:buNone/>
            </a:pPr>
            <a:r>
              <a:t>Precisely-defined errors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79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80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8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Strumenta: legacy transformation of huge code bases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TRUMPF: essential part of infrastructure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implementation of an MCP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How to implement an LWB with LionWeb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as integration platform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7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385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86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388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391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389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0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394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392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397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395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6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400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398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Sergey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401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2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