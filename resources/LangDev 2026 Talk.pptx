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6CC"/>
          </a:solidFill>
        </a:fill>
      </a:tcStyle>
    </a:wholeTbl>
    <a:band2H>
      <a:tcTxStyle b="def" i="def"/>
      <a:tcStyle>
        <a:tcBdr/>
        <a:fill>
          <a:solidFill>
            <a:srgbClr val="FCEC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itle Text"/>
          <p:cNvSpPr txBox="1"/>
          <p:nvPr>
            <p:ph type="title"/>
          </p:nvPr>
        </p:nvSpPr>
        <p:spPr>
          <a:xfrm>
            <a:off x="0" y="0"/>
            <a:ext cx="12192000" cy="5004262"/>
          </a:xfrm>
          <a:prstGeom prst="rect">
            <a:avLst/>
          </a:prstGeom>
        </p:spPr>
        <p:txBody>
          <a:bodyPr anchor="t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sz="quarter" idx="1"/>
          </p:nvPr>
        </p:nvSpPr>
        <p:spPr>
          <a:xfrm>
            <a:off x="1440873" y="5518148"/>
            <a:ext cx="9144001" cy="67067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5" name="Graphic 6" descr="Graphic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03544" y="2963509"/>
            <a:ext cx="1584911" cy="15933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Picture 8" descr="Picture 8"/>
          <p:cNvPicPr>
            <a:picLocks noChangeAspect="1"/>
          </p:cNvPicPr>
          <p:nvPr/>
        </p:nvPicPr>
        <p:blipFill>
          <a:blip r:embed="rId3">
            <a:alphaModFix amt="25000"/>
            <a:extLst/>
          </a:blip>
          <a:stretch>
            <a:fillRect/>
          </a:stretch>
        </p:blipFill>
        <p:spPr>
          <a:xfrm>
            <a:off x="1440873" y="5395716"/>
            <a:ext cx="9144000" cy="960634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itle Text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6" name="Body Level One…"/>
          <p:cNvSpPr txBox="1"/>
          <p:nvPr>
            <p:ph type="body" idx="1"/>
          </p:nvPr>
        </p:nvSpPr>
        <p:spPr>
          <a:xfrm>
            <a:off x="838200" y="1483360"/>
            <a:ext cx="10515600" cy="4867745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lnSpc>
                <a:spcPct val="100000"/>
              </a:lnSpc>
              <a:buSzTx/>
              <a:buFontTx/>
              <a:buNone/>
              <a:defRPr sz="2400"/>
            </a:lvl1pPr>
            <a:lvl2pPr marL="731519" indent="-274319">
              <a:lnSpc>
                <a:spcPct val="100000"/>
              </a:lnSpc>
              <a:buFontTx/>
              <a:defRPr sz="2400"/>
            </a:lvl2pPr>
            <a:lvl3pPr marL="1219200" indent="-304800">
              <a:lnSpc>
                <a:spcPct val="100000"/>
              </a:lnSpc>
              <a:buFontTx/>
              <a:defRPr sz="2400"/>
            </a:lvl3pPr>
            <a:lvl4pPr marL="1676400" indent="-304800">
              <a:lnSpc>
                <a:spcPct val="100000"/>
              </a:lnSpc>
              <a:buFontTx/>
              <a:defRPr sz="2400"/>
            </a:lvl4pPr>
            <a:lvl5pPr marL="2133600" indent="-304800">
              <a:lnSpc>
                <a:spcPct val="100000"/>
              </a:lnSpc>
              <a:buFontTx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27" name="Graphic 8" descr="Graphic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Slide Number"/>
          <p:cNvSpPr txBox="1"/>
          <p:nvPr>
            <p:ph type="sldNum" sz="quarter" idx="2"/>
          </p:nvPr>
        </p:nvSpPr>
        <p:spPr>
          <a:xfrm>
            <a:off x="11073298" y="6522103"/>
            <a:ext cx="280502" cy="2774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Title Text"/>
          <p:cNvSpPr txBox="1"/>
          <p:nvPr>
            <p:ph type="title"/>
          </p:nvPr>
        </p:nvSpPr>
        <p:spPr>
          <a:xfrm>
            <a:off x="0" y="1709738"/>
            <a:ext cx="12192000" cy="3185397"/>
          </a:xfrm>
          <a:prstGeom prst="rect">
            <a:avLst/>
          </a:prstGeom>
        </p:spPr>
        <p:txBody>
          <a:bodyPr anchor="t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7" name="Body Level One…"/>
          <p:cNvSpPr txBox="1"/>
          <p:nvPr>
            <p:ph type="body" sz="quarter" idx="1"/>
          </p:nvPr>
        </p:nvSpPr>
        <p:spPr>
          <a:xfrm>
            <a:off x="831850" y="5033319"/>
            <a:ext cx="10515600" cy="105633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8" name="Graphic 6" descr="Graphic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5121" y="3394947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Title Text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49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itle Text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pic>
        <p:nvPicPr>
          <p:cNvPr id="59" name="Graphic 6" descr="Graphic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5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5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86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itle Text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idx="1"/>
          </p:nvPr>
        </p:nvSpPr>
        <p:spPr>
          <a:xfrm>
            <a:off x="838200" y="1483360"/>
            <a:ext cx="10515600" cy="4867745"/>
          </a:xfrm>
          <a:prstGeom prst="rect">
            <a:avLst/>
          </a:prstGeom>
        </p:spPr>
        <p:txBody>
          <a:bodyPr lIns="46799" tIns="46799" rIns="46799" bIns="46799">
            <a:normAutofit fontScale="100000" lnSpcReduction="0"/>
          </a:bodyPr>
          <a:lstStyle>
            <a:lvl1pPr marL="0" indent="0">
              <a:lnSpc>
                <a:spcPct val="100000"/>
              </a:lnSpc>
              <a:buSzTx/>
              <a:buFontTx/>
              <a:buNone/>
              <a:defRPr sz="2400"/>
            </a:lvl1pPr>
            <a:lvl2pPr marL="731519" indent="-274319">
              <a:lnSpc>
                <a:spcPct val="100000"/>
              </a:lnSpc>
              <a:buFontTx/>
              <a:defRPr sz="2400"/>
            </a:lvl2pPr>
            <a:lvl3pPr marL="1219200" indent="-304800">
              <a:lnSpc>
                <a:spcPct val="100000"/>
              </a:lnSpc>
              <a:buFontTx/>
              <a:defRPr sz="2400"/>
            </a:lvl3pPr>
            <a:lvl4pPr marL="1676400" indent="-304800">
              <a:lnSpc>
                <a:spcPct val="100000"/>
              </a:lnSpc>
              <a:buFontTx/>
              <a:defRPr sz="2400"/>
            </a:lvl4pPr>
            <a:lvl5pPr marL="2133600" indent="-304800">
              <a:lnSpc>
                <a:spcPct val="100000"/>
              </a:lnSpc>
              <a:buFontTx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97" name="Graphic 3" descr="Graphic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00" y="68399"/>
            <a:ext cx="1121401" cy="1127522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itle Text"/>
          <p:cNvSpPr txBox="1"/>
          <p:nvPr>
            <p:ph type="title"/>
          </p:nvPr>
        </p:nvSpPr>
        <p:spPr>
          <a:xfrm>
            <a:off x="0" y="0"/>
            <a:ext cx="12191760" cy="126396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8" name="Body Level One…"/>
          <p:cNvSpPr txBox="1"/>
          <p:nvPr>
            <p:ph type="body" sz="half" idx="1"/>
          </p:nvPr>
        </p:nvSpPr>
        <p:spPr>
          <a:xfrm>
            <a:off x="838080" y="1825560"/>
            <a:ext cx="5181121" cy="435096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228600">
              <a:spcBef>
                <a:spcPts val="700"/>
              </a:spcBef>
              <a:buSzTx/>
              <a:buFontTx/>
              <a:buNone/>
            </a:lvl1pPr>
            <a:lvl2pPr>
              <a:spcBef>
                <a:spcPts val="700"/>
              </a:spcBef>
              <a:buFontTx/>
            </a:lvl2pPr>
            <a:lvl3pPr>
              <a:spcBef>
                <a:spcPts val="700"/>
              </a:spcBef>
              <a:buFontTx/>
            </a:lvl3pPr>
            <a:lvl4pPr>
              <a:spcBef>
                <a:spcPts val="700"/>
              </a:spcBef>
              <a:buFontTx/>
            </a:lvl4pPr>
            <a:lvl5pPr>
              <a:spcBef>
                <a:spcPts val="700"/>
              </a:spcBef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" name="PlaceHolder 3"/>
          <p:cNvSpPr/>
          <p:nvPr>
            <p:ph type="body" sz="half" idx="21"/>
          </p:nvPr>
        </p:nvSpPr>
        <p:spPr>
          <a:xfrm>
            <a:off x="6172200" y="1825560"/>
            <a:ext cx="5181121" cy="435096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228600">
              <a:spcBef>
                <a:spcPts val="700"/>
              </a:spcBef>
              <a:buSzTx/>
              <a:buFontTx/>
              <a:buNone/>
            </a:pPr>
          </a:p>
        </p:txBody>
      </p:sp>
      <p:pic>
        <p:nvPicPr>
          <p:cNvPr id="110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00" y="68399"/>
            <a:ext cx="1121401" cy="1127522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11072818" y="6400159"/>
            <a:ext cx="280502" cy="2774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/>
          <p:nvPr>
            <p:ph type="title"/>
          </p:nvPr>
        </p:nvSpPr>
        <p:spPr>
          <a:xfrm>
            <a:off x="609600" y="274637"/>
            <a:ext cx="10972800" cy="1143001"/>
          </a:xfrm>
          <a:prstGeom prst="rect">
            <a:avLst/>
          </a:prstGeom>
          <a:solidFill>
            <a:srgbClr val="E6752A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1073298" y="6400212"/>
            <a:ext cx="280502" cy="277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Futura"/>
                <a:ea typeface="Futura"/>
                <a:cs typeface="Futura"/>
                <a:sym typeface="Futur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1pPr>
      <a:lvl2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2pPr>
      <a:lvl3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3pPr>
      <a:lvl4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4pPr>
      <a:lvl5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5pPr>
      <a:lvl6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6pPr>
      <a:lvl7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7pPr>
      <a:lvl8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8pPr>
      <a:lvl9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 w="9525" cap="flat">
            <a:solidFill>
              <a:srgbClr val="FFFFFF"/>
            </a:solidFill>
            <a:prstDash val="solid"/>
            <a:round/>
          </a:ln>
          <a:solidFill>
            <a:srgbClr val="FFFFFF"/>
          </a:solidFill>
          <a:uFillTx/>
          <a:latin typeface="Lato Bold"/>
          <a:ea typeface="Lato Bold"/>
          <a:cs typeface="Lato Bold"/>
          <a:sym typeface="Lato Bold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1pPr>
      <a:lvl2pPr marL="723900" marR="0" indent="-2667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2pPr>
      <a:lvl3pPr marL="1234439" marR="0" indent="-320039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3pPr>
      <a:lvl4pPr marL="1727200" marR="0" indent="-3556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4pPr>
      <a:lvl5pPr marL="2184400" marR="0" indent="-3556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5pPr>
      <a:lvl6pPr marL="2641600" marR="0" indent="-3556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6pPr>
      <a:lvl7pPr marL="3098800" marR="0" indent="-3556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7pPr>
      <a:lvl8pPr marL="3556000" marR="0" indent="-3556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8pPr>
      <a:lvl9pPr marL="4013200" marR="0" indent="-3556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 Bold"/>
          <a:ea typeface="Lato Bold"/>
          <a:cs typeface="Lato Bold"/>
          <a:sym typeface="Lato Bold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hyperlink" Target="https://github.com/LionWeb-io/specification/blob/main/resources/LionWeb-LangDev2023.pdf" TargetMode="External"/><Relationship Id="rId3" Type="http://schemas.openxmlformats.org/officeDocument/2006/relationships/hyperlink" Target="https://www.youtube.com/watch?v=ZuR2C7DZ_r0" TargetMode="External"/><Relationship Id="rId4" Type="http://schemas.openxmlformats.org/officeDocument/2006/relationships/hyperlink" Target="https://github.com/LionWeb-io/specification/blob/main/resources/LangDev%202024%20Talk.pdf" TargetMode="External"/><Relationship Id="rId5" Type="http://schemas.openxmlformats.org/officeDocument/2006/relationships/hyperlink" Target="https://www.youtube.com/watch?v=2KW-xalM2yE" TargetMode="External"/><Relationship Id="rId6" Type="http://schemas.openxmlformats.org/officeDocument/2006/relationships/hyperlink" Target="https://www.sen-symposium.nl/" TargetMode="External"/><Relationship Id="rId7" Type="http://schemas.openxmlformats.org/officeDocument/2006/relationships/hyperlink" Target="https://github.com/LionWeb-io/specification/blob/main/resources/SEN-symposium%202024.pdf" TargetMode="External"/><Relationship Id="rId8" Type="http://schemas.openxmlformats.org/officeDocument/2006/relationships/hyperlink" Target="https://conf.researchr.org/details/models-2024/models-2024-industry-day/6/LionWeb-Language-Interfaces-on-the-Web" TargetMode="External"/><Relationship Id="rId9" Type="http://schemas.openxmlformats.org/officeDocument/2006/relationships/hyperlink" Target="https://www.b2match.com/e/mbse-2025/sessions/c2Vzc2lvbjoyMDA5MzM=" TargetMode="External"/><Relationship Id="rId10" Type="http://schemas.openxmlformats.org/officeDocument/2006/relationships/hyperlink" Target="https://lionweb.io/specification/roadmap/roadmap.html" TargetMode="External"/><Relationship Id="rId11" Type="http://schemas.openxmlformats.org/officeDocument/2006/relationships/hyperlink" Target="https://lionweb.io/specification/reference-architecture/reference-architecture.html" TargetMode="External"/><Relationship Id="rId12" Type="http://schemas.openxmlformats.org/officeDocument/2006/relationships/hyperlink" Target="https://lionweb.io/specification/documentation/use-cases.html" TargetMode="External"/><Relationship Id="rId1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langdevcon.org/2025/abstracts#6" TargetMode="External"/><Relationship Id="rId3" Type="http://schemas.openxmlformats.org/officeDocument/2006/relationships/hyperlink" Target="https://langdevcon.org/2025/abstracts#20" TargetMode="External"/><Relationship Id="rId4" Type="http://schemas.openxmlformats.org/officeDocument/2006/relationships/hyperlink" Target="https://langdevcon.org/2025/abstracts#21" TargetMode="External"/><Relationship Id="rId5" Type="http://schemas.openxmlformats.org/officeDocument/2006/relationships/hyperlink" Target="https://langdevcon.org/2025/abstracts#27" TargetMode="External"/><Relationship Id="rId6" Type="http://schemas.openxmlformats.org/officeDocument/2006/relationships/hyperlink" Target="https://langdevcon.org/2025/abstracts#42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hyperlink" Target="mailto:info@lionweb.io" TargetMode="External"/><Relationship Id="rId3" Type="http://schemas.openxmlformats.org/officeDocument/2006/relationships/hyperlink" Target="https://github.com/LionWeb-io" TargetMode="External"/><Relationship Id="rId4" Type="http://schemas.openxmlformats.org/officeDocument/2006/relationships/hyperlink" Target="https://lionweb.io/" TargetMode="External"/><Relationship Id="rId5" Type="http://schemas.openxmlformats.org/officeDocument/2006/relationships/hyperlink" Target="https://join.slack.com/t/lionweb/shared_invite/zt-2k1k5bsv7-EvC2IABIgSxWrqJNVOZ0HQ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72000"/>
              </a:lnSpc>
              <a:defRPr sz="1600"/>
            </a:pPr>
            <a:r>
              <a:t>LangDev 2026</a:t>
            </a:r>
          </a:p>
          <a:p>
            <a:pPr>
              <a:lnSpc>
                <a:spcPct val="72000"/>
              </a:lnSpc>
              <a:defRPr sz="1600"/>
            </a:pPr>
            <a:r>
              <a:t>Meinte Boersma, Niko Stotz</a:t>
            </a:r>
          </a:p>
        </p:txBody>
      </p:sp>
      <p:grpSp>
        <p:nvGrpSpPr>
          <p:cNvPr id="163" name="Google Shape;55;p13"/>
          <p:cNvGrpSpPr/>
          <p:nvPr/>
        </p:nvGrpSpPr>
        <p:grpSpPr>
          <a:xfrm>
            <a:off x="4811621" y="1859403"/>
            <a:ext cx="2566947" cy="2546750"/>
            <a:chOff x="0" y="0"/>
            <a:chExt cx="2566946" cy="2546749"/>
          </a:xfrm>
        </p:grpSpPr>
        <p:grpSp>
          <p:nvGrpSpPr>
            <p:cNvPr id="134" name="Google Shape;56;p13"/>
            <p:cNvGrpSpPr/>
            <p:nvPr/>
          </p:nvGrpSpPr>
          <p:grpSpPr>
            <a:xfrm>
              <a:off x="437357" y="537395"/>
              <a:ext cx="1693888" cy="1464371"/>
              <a:chOff x="-76" y="-122"/>
              <a:chExt cx="1693887" cy="1464370"/>
            </a:xfrm>
          </p:grpSpPr>
          <p:grpSp>
            <p:nvGrpSpPr>
              <p:cNvPr id="127" name="Google Shape;57;p13"/>
              <p:cNvGrpSpPr/>
              <p:nvPr/>
            </p:nvGrpSpPr>
            <p:grpSpPr>
              <a:xfrm>
                <a:off x="-77" y="-123"/>
                <a:ext cx="1693889" cy="1464371"/>
                <a:chOff x="-76" y="-122"/>
                <a:chExt cx="1693887" cy="1464370"/>
              </a:xfrm>
            </p:grpSpPr>
            <p:sp>
              <p:nvSpPr>
                <p:cNvPr id="121" name="Google Shape;58;p13"/>
                <p:cNvSpPr/>
                <p:nvPr/>
              </p:nvSpPr>
              <p:spPr>
                <a:xfrm>
                  <a:off x="565195" y="430681"/>
                  <a:ext cx="521845" cy="516104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122" name="Google Shape;59;p13"/>
                <p:cNvSpPr/>
                <p:nvPr/>
              </p:nvSpPr>
              <p:spPr>
                <a:xfrm>
                  <a:off x="312707" y="880646"/>
                  <a:ext cx="386552" cy="382299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123" name="Google Shape;60;p13"/>
                <p:cNvSpPr/>
                <p:nvPr/>
              </p:nvSpPr>
              <p:spPr>
                <a:xfrm>
                  <a:off x="1146638" y="1081949"/>
                  <a:ext cx="386552" cy="382299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124" name="Google Shape;61;p13"/>
                <p:cNvSpPr/>
                <p:nvPr/>
              </p:nvSpPr>
              <p:spPr>
                <a:xfrm>
                  <a:off x="1420768" y="435709"/>
                  <a:ext cx="273044" cy="267609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125" name="Google Shape;62;p13"/>
                <p:cNvSpPr/>
                <p:nvPr/>
              </p:nvSpPr>
              <p:spPr>
                <a:xfrm>
                  <a:off x="1097910" y="-123"/>
                  <a:ext cx="270586" cy="267609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126" name="Google Shape;63;p13"/>
                <p:cNvSpPr/>
                <p:nvPr/>
              </p:nvSpPr>
              <p:spPr>
                <a:xfrm>
                  <a:off x="-77" y="513312"/>
                  <a:ext cx="270586" cy="280481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</p:grpSp>
          <p:grpSp>
            <p:nvGrpSpPr>
              <p:cNvPr id="133" name="Google Shape;64;p13"/>
              <p:cNvGrpSpPr/>
              <p:nvPr/>
            </p:nvGrpSpPr>
            <p:grpSpPr>
              <a:xfrm>
                <a:off x="135216" y="133682"/>
                <a:ext cx="1422074" cy="1139417"/>
                <a:chOff x="-76" y="-122"/>
                <a:chExt cx="1422072" cy="1139416"/>
              </a:xfrm>
            </p:grpSpPr>
            <p:sp>
              <p:nvSpPr>
                <p:cNvPr id="128" name="Google Shape;65;p13"/>
                <p:cNvSpPr/>
                <p:nvPr/>
              </p:nvSpPr>
              <p:spPr>
                <a:xfrm>
                  <a:off x="-77" y="519748"/>
                  <a:ext cx="689674" cy="35179"/>
                </a:xfrm>
                <a:prstGeom prst="line">
                  <a:avLst/>
                </a:prstGeom>
                <a:noFill/>
                <a:ln w="79675" cap="flat">
                  <a:solidFill>
                    <a:srgbClr val="FFFFFF"/>
                  </a:solidFill>
                  <a:prstDash val="solid"/>
                  <a:miter lim="8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9" name="Google Shape;66;p13"/>
                <p:cNvSpPr/>
                <p:nvPr/>
              </p:nvSpPr>
              <p:spPr>
                <a:xfrm flipV="1">
                  <a:off x="370688" y="554927"/>
                  <a:ext cx="320137" cy="383063"/>
                </a:xfrm>
                <a:prstGeom prst="line">
                  <a:avLst/>
                </a:prstGeom>
                <a:noFill/>
                <a:ln w="79675" cap="flat">
                  <a:solidFill>
                    <a:srgbClr val="FFFFFF"/>
                  </a:solidFill>
                  <a:prstDash val="solid"/>
                  <a:miter lim="8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0" name="Google Shape;67;p13"/>
                <p:cNvSpPr/>
                <p:nvPr/>
              </p:nvSpPr>
              <p:spPr>
                <a:xfrm flipH="1" flipV="1">
                  <a:off x="690824" y="554927"/>
                  <a:ext cx="513797" cy="584368"/>
                </a:xfrm>
                <a:prstGeom prst="line">
                  <a:avLst/>
                </a:prstGeom>
                <a:noFill/>
                <a:ln w="79675" cap="flat">
                  <a:solidFill>
                    <a:srgbClr val="FFFFFF"/>
                  </a:solidFill>
                  <a:prstDash val="solid"/>
                  <a:miter lim="8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1" name="Google Shape;68;p13"/>
                <p:cNvSpPr/>
                <p:nvPr/>
              </p:nvSpPr>
              <p:spPr>
                <a:xfrm flipH="1">
                  <a:off x="690824" y="435709"/>
                  <a:ext cx="731172" cy="119219"/>
                </a:xfrm>
                <a:prstGeom prst="line">
                  <a:avLst/>
                </a:prstGeom>
                <a:noFill/>
                <a:ln w="79675" cap="flat">
                  <a:solidFill>
                    <a:srgbClr val="FFFFFF"/>
                  </a:solidFill>
                  <a:prstDash val="solid"/>
                  <a:miter lim="8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2" name="Google Shape;69;p13"/>
                <p:cNvSpPr/>
                <p:nvPr/>
              </p:nvSpPr>
              <p:spPr>
                <a:xfrm flipH="1">
                  <a:off x="690824" y="-123"/>
                  <a:ext cx="407086" cy="555050"/>
                </a:xfrm>
                <a:prstGeom prst="line">
                  <a:avLst/>
                </a:prstGeom>
                <a:noFill/>
                <a:ln w="79675" cap="flat">
                  <a:solidFill>
                    <a:srgbClr val="FFFFFF"/>
                  </a:solidFill>
                  <a:prstDash val="solid"/>
                  <a:miter lim="8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</p:grpSp>
        <p:grpSp>
          <p:nvGrpSpPr>
            <p:cNvPr id="153" name="Google Shape;71;p13"/>
            <p:cNvGrpSpPr/>
            <p:nvPr/>
          </p:nvGrpSpPr>
          <p:grpSpPr>
            <a:xfrm>
              <a:off x="-1" y="0"/>
              <a:ext cx="2566948" cy="1904802"/>
              <a:chOff x="-76" y="-122"/>
              <a:chExt cx="2566946" cy="1904801"/>
            </a:xfrm>
          </p:grpSpPr>
          <p:sp>
            <p:nvSpPr>
              <p:cNvPr id="135" name="Google Shape;72;p13"/>
              <p:cNvSpPr/>
              <p:nvPr/>
            </p:nvSpPr>
            <p:spPr>
              <a:xfrm>
                <a:off x="-77" y="1101034"/>
                <a:ext cx="211298" cy="1597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9616"/>
                    </a:moveTo>
                    <a:lnTo>
                      <a:pt x="469" y="11372"/>
                    </a:lnTo>
                    <a:lnTo>
                      <a:pt x="15845" y="12867"/>
                    </a:lnTo>
                    <a:lnTo>
                      <a:pt x="16577" y="0"/>
                    </a:lnTo>
                    <a:lnTo>
                      <a:pt x="21600" y="488"/>
                    </a:lnTo>
                    <a:lnTo>
                      <a:pt x="2040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36" name="Google Shape;73;p13"/>
              <p:cNvSpPr/>
              <p:nvPr/>
            </p:nvSpPr>
            <p:spPr>
              <a:xfrm>
                <a:off x="40341" y="875551"/>
                <a:ext cx="231207" cy="2074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6748" y="6470"/>
                    </a:moveTo>
                    <a:lnTo>
                      <a:pt x="14970" y="13454"/>
                    </a:lnTo>
                    <a:lnTo>
                      <a:pt x="17696" y="15334"/>
                    </a:lnTo>
                    <a:lnTo>
                      <a:pt x="16101" y="21600"/>
                    </a:lnTo>
                    <a:lnTo>
                      <a:pt x="0" y="8575"/>
                    </a:lnTo>
                    <a:lnTo>
                      <a:pt x="1702" y="1889"/>
                    </a:lnTo>
                    <a:lnTo>
                      <a:pt x="21600" y="0"/>
                    </a:lnTo>
                    <a:lnTo>
                      <a:pt x="19967" y="6415"/>
                    </a:lnTo>
                    <a:close/>
                    <a:moveTo>
                      <a:pt x="12528" y="6552"/>
                    </a:moveTo>
                    <a:lnTo>
                      <a:pt x="5499" y="6743"/>
                    </a:lnTo>
                    <a:lnTo>
                      <a:pt x="11415" y="10924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37" name="Google Shape;74;p13"/>
              <p:cNvSpPr/>
              <p:nvPr/>
            </p:nvSpPr>
            <p:spPr>
              <a:xfrm>
                <a:off x="109767" y="584146"/>
                <a:ext cx="267006" cy="2605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3806"/>
                    </a:moveTo>
                    <a:lnTo>
                      <a:pt x="2219" y="9640"/>
                    </a:lnTo>
                    <a:lnTo>
                      <a:pt x="12995" y="8517"/>
                    </a:lnTo>
                    <a:lnTo>
                      <a:pt x="5115" y="4205"/>
                    </a:lnTo>
                    <a:lnTo>
                      <a:pt x="7355" y="0"/>
                    </a:lnTo>
                    <a:lnTo>
                      <a:pt x="21600" y="7794"/>
                    </a:lnTo>
                    <a:lnTo>
                      <a:pt x="19360" y="11999"/>
                    </a:lnTo>
                    <a:lnTo>
                      <a:pt x="8658" y="13125"/>
                    </a:lnTo>
                    <a:lnTo>
                      <a:pt x="16480" y="17405"/>
                    </a:lnTo>
                    <a:lnTo>
                      <a:pt x="14245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38" name="Google Shape;75;p13"/>
              <p:cNvSpPr/>
              <p:nvPr/>
            </p:nvSpPr>
            <p:spPr>
              <a:xfrm>
                <a:off x="289305" y="385200"/>
                <a:ext cx="227005" cy="2182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5" h="21430" fill="norm" stroke="1" extrusionOk="0">
                    <a:moveTo>
                      <a:pt x="12383" y="12395"/>
                    </a:moveTo>
                    <a:lnTo>
                      <a:pt x="9431" y="9724"/>
                    </a:lnTo>
                    <a:lnTo>
                      <a:pt x="15397" y="2760"/>
                    </a:lnTo>
                    <a:lnTo>
                      <a:pt x="21445" y="8235"/>
                    </a:lnTo>
                    <a:cubicBezTo>
                      <a:pt x="21187" y="10368"/>
                      <a:pt x="20779" y="12095"/>
                      <a:pt x="20221" y="13414"/>
                    </a:cubicBezTo>
                    <a:cubicBezTo>
                      <a:pt x="19662" y="14722"/>
                      <a:pt x="18781" y="16078"/>
                      <a:pt x="17576" y="17484"/>
                    </a:cubicBezTo>
                    <a:cubicBezTo>
                      <a:pt x="16093" y="19215"/>
                      <a:pt x="14596" y="20368"/>
                      <a:pt x="13084" y="20942"/>
                    </a:cubicBezTo>
                    <a:cubicBezTo>
                      <a:pt x="11578" y="21510"/>
                      <a:pt x="9999" y="21582"/>
                      <a:pt x="8347" y="21158"/>
                    </a:cubicBezTo>
                    <a:cubicBezTo>
                      <a:pt x="6700" y="20727"/>
                      <a:pt x="5141" y="19846"/>
                      <a:pt x="3670" y="18514"/>
                    </a:cubicBezTo>
                    <a:cubicBezTo>
                      <a:pt x="2122" y="17113"/>
                      <a:pt x="1058" y="15567"/>
                      <a:pt x="478" y="13877"/>
                    </a:cubicBezTo>
                    <a:cubicBezTo>
                      <a:pt x="-108" y="12181"/>
                      <a:pt x="-155" y="10431"/>
                      <a:pt x="337" y="8627"/>
                    </a:cubicBezTo>
                    <a:cubicBezTo>
                      <a:pt x="725" y="7224"/>
                      <a:pt x="1635" y="5687"/>
                      <a:pt x="3067" y="4016"/>
                    </a:cubicBezTo>
                    <a:cubicBezTo>
                      <a:pt x="4447" y="2405"/>
                      <a:pt x="5620" y="1329"/>
                      <a:pt x="6586" y="791"/>
                    </a:cubicBezTo>
                    <a:cubicBezTo>
                      <a:pt x="7557" y="245"/>
                      <a:pt x="8567" y="-18"/>
                      <a:pt x="9616" y="1"/>
                    </a:cubicBezTo>
                    <a:cubicBezTo>
                      <a:pt x="10664" y="9"/>
                      <a:pt x="11760" y="294"/>
                      <a:pt x="12903" y="857"/>
                    </a:cubicBezTo>
                    <a:lnTo>
                      <a:pt x="9934" y="5887"/>
                    </a:lnTo>
                    <a:cubicBezTo>
                      <a:pt x="9245" y="5582"/>
                      <a:pt x="8574" y="5516"/>
                      <a:pt x="7921" y="5690"/>
                    </a:cubicBezTo>
                    <a:cubicBezTo>
                      <a:pt x="7274" y="5857"/>
                      <a:pt x="6666" y="6273"/>
                      <a:pt x="6098" y="6936"/>
                    </a:cubicBezTo>
                    <a:cubicBezTo>
                      <a:pt x="5251" y="7924"/>
                      <a:pt x="4911" y="9017"/>
                      <a:pt x="5076" y="10214"/>
                    </a:cubicBezTo>
                    <a:cubicBezTo>
                      <a:pt x="5241" y="11399"/>
                      <a:pt x="6045" y="12646"/>
                      <a:pt x="7491" y="13954"/>
                    </a:cubicBezTo>
                    <a:cubicBezTo>
                      <a:pt x="9026" y="15344"/>
                      <a:pt x="10376" y="16042"/>
                      <a:pt x="11539" y="16047"/>
                    </a:cubicBezTo>
                    <a:cubicBezTo>
                      <a:pt x="12709" y="16046"/>
                      <a:pt x="13748" y="15515"/>
                      <a:pt x="14657" y="14454"/>
                    </a:cubicBezTo>
                    <a:cubicBezTo>
                      <a:pt x="15089" y="13950"/>
                      <a:pt x="15430" y="13405"/>
                      <a:pt x="15680" y="12819"/>
                    </a:cubicBezTo>
                    <a:cubicBezTo>
                      <a:pt x="15930" y="12233"/>
                      <a:pt x="16137" y="11490"/>
                      <a:pt x="16301" y="10590"/>
                    </a:cubicBezTo>
                    <a:lnTo>
                      <a:pt x="14965" y="938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39" name="Google Shape;76;p13"/>
              <p:cNvSpPr/>
              <p:nvPr/>
            </p:nvSpPr>
            <p:spPr>
              <a:xfrm>
                <a:off x="458821" y="183262"/>
                <a:ext cx="243549" cy="243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27" h="21550" fill="norm" stroke="1" extrusionOk="0">
                    <a:moveTo>
                      <a:pt x="9312" y="3166"/>
                    </a:moveTo>
                    <a:lnTo>
                      <a:pt x="13728" y="0"/>
                    </a:lnTo>
                    <a:lnTo>
                      <a:pt x="19914" y="8451"/>
                    </a:lnTo>
                    <a:cubicBezTo>
                      <a:pt x="20528" y="9289"/>
                      <a:pt x="20975" y="10178"/>
                      <a:pt x="21255" y="11117"/>
                    </a:cubicBezTo>
                    <a:cubicBezTo>
                      <a:pt x="21537" y="12045"/>
                      <a:pt x="21600" y="12993"/>
                      <a:pt x="21444" y="13960"/>
                    </a:cubicBezTo>
                    <a:cubicBezTo>
                      <a:pt x="21289" y="14916"/>
                      <a:pt x="20985" y="15728"/>
                      <a:pt x="20532" y="16398"/>
                    </a:cubicBezTo>
                    <a:cubicBezTo>
                      <a:pt x="19903" y="17330"/>
                      <a:pt x="18986" y="18228"/>
                      <a:pt x="17781" y="19092"/>
                    </a:cubicBezTo>
                    <a:cubicBezTo>
                      <a:pt x="17084" y="19591"/>
                      <a:pt x="16286" y="20089"/>
                      <a:pt x="15388" y="20586"/>
                    </a:cubicBezTo>
                    <a:cubicBezTo>
                      <a:pt x="14497" y="21077"/>
                      <a:pt x="13670" y="21380"/>
                      <a:pt x="12909" y="21493"/>
                    </a:cubicBezTo>
                    <a:cubicBezTo>
                      <a:pt x="12143" y="21600"/>
                      <a:pt x="11335" y="21555"/>
                      <a:pt x="10486" y="21358"/>
                    </a:cubicBezTo>
                    <a:cubicBezTo>
                      <a:pt x="9643" y="21156"/>
                      <a:pt x="8932" y="20836"/>
                      <a:pt x="8352" y="20396"/>
                    </a:cubicBezTo>
                    <a:cubicBezTo>
                      <a:pt x="7417" y="19690"/>
                      <a:pt x="6696" y="18988"/>
                      <a:pt x="6186" y="18292"/>
                    </a:cubicBezTo>
                    <a:lnTo>
                      <a:pt x="0" y="9841"/>
                    </a:lnTo>
                    <a:lnTo>
                      <a:pt x="4417" y="6675"/>
                    </a:lnTo>
                    <a:lnTo>
                      <a:pt x="10751" y="15329"/>
                    </a:lnTo>
                    <a:cubicBezTo>
                      <a:pt x="11317" y="16103"/>
                      <a:pt x="11976" y="16555"/>
                      <a:pt x="12727" y="16685"/>
                    </a:cubicBezTo>
                    <a:cubicBezTo>
                      <a:pt x="13479" y="16804"/>
                      <a:pt x="14240" y="16588"/>
                      <a:pt x="15009" y="16037"/>
                    </a:cubicBezTo>
                    <a:cubicBezTo>
                      <a:pt x="15771" y="15491"/>
                      <a:pt x="16211" y="14851"/>
                      <a:pt x="16330" y="14117"/>
                    </a:cubicBezTo>
                    <a:cubicBezTo>
                      <a:pt x="16450" y="13372"/>
                      <a:pt x="16222" y="12607"/>
                      <a:pt x="15647" y="118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0" name="Google Shape;77;p13"/>
              <p:cNvSpPr/>
              <p:nvPr/>
            </p:nvSpPr>
            <p:spPr>
              <a:xfrm>
                <a:off x="741705" y="92735"/>
                <a:ext cx="210960" cy="2378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253" y="13718"/>
                    </a:moveTo>
                    <a:lnTo>
                      <a:pt x="6648" y="16256"/>
                    </a:lnTo>
                    <a:lnTo>
                      <a:pt x="7096" y="19322"/>
                    </a:lnTo>
                    <a:lnTo>
                      <a:pt x="1169" y="21600"/>
                    </a:lnTo>
                    <a:lnTo>
                      <a:pt x="0" y="2430"/>
                    </a:lnTo>
                    <a:lnTo>
                      <a:pt x="6324" y="0"/>
                    </a:lnTo>
                    <a:lnTo>
                      <a:pt x="21600" y="13749"/>
                    </a:lnTo>
                    <a:lnTo>
                      <a:pt x="15532" y="16081"/>
                    </a:lnTo>
                    <a:close/>
                    <a:moveTo>
                      <a:pt x="10259" y="10626"/>
                    </a:moveTo>
                    <a:lnTo>
                      <a:pt x="5229" y="5506"/>
                    </a:lnTo>
                    <a:lnTo>
                      <a:pt x="6124" y="12215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1" name="Google Shape;78;p13"/>
              <p:cNvSpPr/>
              <p:nvPr/>
            </p:nvSpPr>
            <p:spPr>
              <a:xfrm>
                <a:off x="951271" y="16303"/>
                <a:ext cx="216361" cy="2089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7" h="21365" fill="norm" stroke="1" extrusionOk="0">
                    <a:moveTo>
                      <a:pt x="11319" y="13446"/>
                    </a:moveTo>
                    <a:lnTo>
                      <a:pt x="10525" y="9315"/>
                    </a:lnTo>
                    <a:lnTo>
                      <a:pt x="19820" y="7456"/>
                    </a:lnTo>
                    <a:lnTo>
                      <a:pt x="21447" y="15922"/>
                    </a:lnTo>
                    <a:cubicBezTo>
                      <a:pt x="19906" y="17515"/>
                      <a:pt x="18492" y="18674"/>
                      <a:pt x="17207" y="19400"/>
                    </a:cubicBezTo>
                    <a:cubicBezTo>
                      <a:pt x="15929" y="20115"/>
                      <a:pt x="14351" y="20660"/>
                      <a:pt x="12475" y="21036"/>
                    </a:cubicBezTo>
                    <a:cubicBezTo>
                      <a:pt x="10164" y="21498"/>
                      <a:pt x="8201" y="21473"/>
                      <a:pt x="6586" y="20962"/>
                    </a:cubicBezTo>
                    <a:cubicBezTo>
                      <a:pt x="4980" y="20448"/>
                      <a:pt x="3622" y="19478"/>
                      <a:pt x="2510" y="18049"/>
                    </a:cubicBezTo>
                    <a:cubicBezTo>
                      <a:pt x="1408" y="16619"/>
                      <a:pt x="659" y="14875"/>
                      <a:pt x="264" y="12816"/>
                    </a:cubicBezTo>
                    <a:cubicBezTo>
                      <a:pt x="-153" y="10649"/>
                      <a:pt x="-77" y="8679"/>
                      <a:pt x="492" y="6905"/>
                    </a:cubicBezTo>
                    <a:cubicBezTo>
                      <a:pt x="1060" y="5123"/>
                      <a:pt x="2109" y="3647"/>
                      <a:pt x="3640" y="2478"/>
                    </a:cubicBezTo>
                    <a:cubicBezTo>
                      <a:pt x="4836" y="1573"/>
                      <a:pt x="6549" y="897"/>
                      <a:pt x="8780" y="451"/>
                    </a:cubicBezTo>
                    <a:cubicBezTo>
                      <a:pt x="10931" y="21"/>
                      <a:pt x="12576" y="-102"/>
                      <a:pt x="13714" y="83"/>
                    </a:cubicBezTo>
                    <a:cubicBezTo>
                      <a:pt x="14862" y="266"/>
                      <a:pt x="15866" y="707"/>
                      <a:pt x="16727" y="1407"/>
                    </a:cubicBezTo>
                    <a:cubicBezTo>
                      <a:pt x="17595" y="2096"/>
                      <a:pt x="18329" y="3047"/>
                      <a:pt x="18929" y="4258"/>
                    </a:cubicBezTo>
                    <a:lnTo>
                      <a:pt x="13330" y="6475"/>
                    </a:lnTo>
                    <a:cubicBezTo>
                      <a:pt x="12947" y="5774"/>
                      <a:pt x="12429" y="5282"/>
                      <a:pt x="11778" y="4999"/>
                    </a:cubicBezTo>
                    <a:cubicBezTo>
                      <a:pt x="11135" y="4715"/>
                      <a:pt x="10371" y="4662"/>
                      <a:pt x="9485" y="4839"/>
                    </a:cubicBezTo>
                    <a:cubicBezTo>
                      <a:pt x="8166" y="5103"/>
                      <a:pt x="7203" y="5783"/>
                      <a:pt x="6596" y="6880"/>
                    </a:cubicBezTo>
                    <a:cubicBezTo>
                      <a:pt x="5996" y="7966"/>
                      <a:pt x="5890" y="9520"/>
                      <a:pt x="6279" y="11543"/>
                    </a:cubicBezTo>
                    <a:cubicBezTo>
                      <a:pt x="6692" y="13692"/>
                      <a:pt x="7381" y="15148"/>
                      <a:pt x="8346" y="15912"/>
                    </a:cubicBezTo>
                    <a:cubicBezTo>
                      <a:pt x="9320" y="16673"/>
                      <a:pt x="10515" y="16913"/>
                      <a:pt x="11931" y="16629"/>
                    </a:cubicBezTo>
                    <a:cubicBezTo>
                      <a:pt x="12604" y="16495"/>
                      <a:pt x="13226" y="16267"/>
                      <a:pt x="13799" y="15946"/>
                    </a:cubicBezTo>
                    <a:cubicBezTo>
                      <a:pt x="14372" y="15625"/>
                      <a:pt x="15006" y="15147"/>
                      <a:pt x="15702" y="14511"/>
                    </a:cubicBezTo>
                    <a:lnTo>
                      <a:pt x="15342" y="12642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2" name="Google Shape;79;p13"/>
              <p:cNvSpPr/>
              <p:nvPr/>
            </p:nvSpPr>
            <p:spPr>
              <a:xfrm>
                <a:off x="1223655" y="-123"/>
                <a:ext cx="169510" cy="200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62" y="0"/>
                    </a:moveTo>
                    <a:lnTo>
                      <a:pt x="21574" y="319"/>
                    </a:lnTo>
                    <a:lnTo>
                      <a:pt x="21476" y="4862"/>
                    </a:lnTo>
                    <a:lnTo>
                      <a:pt x="8259" y="4662"/>
                    </a:lnTo>
                    <a:lnTo>
                      <a:pt x="8186" y="8043"/>
                    </a:lnTo>
                    <a:lnTo>
                      <a:pt x="20446" y="8229"/>
                    </a:lnTo>
                    <a:lnTo>
                      <a:pt x="20352" y="12568"/>
                    </a:lnTo>
                    <a:lnTo>
                      <a:pt x="8091" y="12382"/>
                    </a:lnTo>
                    <a:lnTo>
                      <a:pt x="8000" y="16576"/>
                    </a:lnTo>
                    <a:lnTo>
                      <a:pt x="21600" y="16782"/>
                    </a:lnTo>
                    <a:lnTo>
                      <a:pt x="21495" y="21600"/>
                    </a:lnTo>
                    <a:lnTo>
                      <a:pt x="0" y="21275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3" name="Google Shape;80;p13"/>
              <p:cNvSpPr/>
              <p:nvPr/>
            </p:nvSpPr>
            <p:spPr>
              <a:xfrm>
                <a:off x="1545496" y="39321"/>
                <a:ext cx="113497" cy="2070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240" y="0"/>
                    </a:moveTo>
                    <a:lnTo>
                      <a:pt x="21600" y="1719"/>
                    </a:lnTo>
                    <a:lnTo>
                      <a:pt x="11360" y="21600"/>
                    </a:lnTo>
                    <a:lnTo>
                      <a:pt x="0" y="1988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4" name="Google Shape;81;p13"/>
              <p:cNvSpPr/>
              <p:nvPr/>
            </p:nvSpPr>
            <p:spPr>
              <a:xfrm>
                <a:off x="1661738" y="82714"/>
                <a:ext cx="258720" cy="2599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168" y="0"/>
                    </a:moveTo>
                    <a:lnTo>
                      <a:pt x="11522" y="2036"/>
                    </a:lnTo>
                    <a:lnTo>
                      <a:pt x="13239" y="12909"/>
                    </a:lnTo>
                    <a:lnTo>
                      <a:pt x="17204" y="4692"/>
                    </a:lnTo>
                    <a:lnTo>
                      <a:pt x="21600" y="6747"/>
                    </a:lnTo>
                    <a:lnTo>
                      <a:pt x="14432" y="21600"/>
                    </a:lnTo>
                    <a:lnTo>
                      <a:pt x="10037" y="19545"/>
                    </a:lnTo>
                    <a:lnTo>
                      <a:pt x="8321" y="8747"/>
                    </a:lnTo>
                    <a:lnTo>
                      <a:pt x="4385" y="16903"/>
                    </a:lnTo>
                    <a:lnTo>
                      <a:pt x="0" y="14853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5" name="Google Shape;82;p13"/>
              <p:cNvSpPr/>
              <p:nvPr/>
            </p:nvSpPr>
            <p:spPr>
              <a:xfrm>
                <a:off x="1919386" y="207249"/>
                <a:ext cx="221072" cy="2321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052" y="0"/>
                    </a:moveTo>
                    <a:lnTo>
                      <a:pt x="21600" y="10556"/>
                    </a:lnTo>
                    <a:lnTo>
                      <a:pt x="18653" y="14158"/>
                    </a:lnTo>
                    <a:lnTo>
                      <a:pt x="13772" y="10616"/>
                    </a:lnTo>
                    <a:lnTo>
                      <a:pt x="4786" y="21600"/>
                    </a:lnTo>
                    <a:lnTo>
                      <a:pt x="0" y="18127"/>
                    </a:lnTo>
                    <a:lnTo>
                      <a:pt x="8987" y="7143"/>
                    </a:lnTo>
                    <a:lnTo>
                      <a:pt x="4106" y="3602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6" name="Google Shape;83;p13"/>
              <p:cNvSpPr/>
              <p:nvPr/>
            </p:nvSpPr>
            <p:spPr>
              <a:xfrm>
                <a:off x="2047769" y="376641"/>
                <a:ext cx="259735" cy="2558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549" y="0"/>
                    </a:moveTo>
                    <a:lnTo>
                      <a:pt x="21600" y="10435"/>
                    </a:lnTo>
                    <a:lnTo>
                      <a:pt x="18921" y="12778"/>
                    </a:lnTo>
                    <a:lnTo>
                      <a:pt x="13254" y="6246"/>
                    </a:lnTo>
                    <a:lnTo>
                      <a:pt x="11260" y="7990"/>
                    </a:lnTo>
                    <a:lnTo>
                      <a:pt x="16516" y="14050"/>
                    </a:lnTo>
                    <a:lnTo>
                      <a:pt x="13957" y="16289"/>
                    </a:lnTo>
                    <a:lnTo>
                      <a:pt x="8701" y="10229"/>
                    </a:lnTo>
                    <a:lnTo>
                      <a:pt x="6227" y="12393"/>
                    </a:lnTo>
                    <a:lnTo>
                      <a:pt x="12057" y="19114"/>
                    </a:lnTo>
                    <a:lnTo>
                      <a:pt x="9215" y="21600"/>
                    </a:lnTo>
                    <a:lnTo>
                      <a:pt x="0" y="10976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7" name="Google Shape;84;p13"/>
              <p:cNvSpPr/>
              <p:nvPr/>
            </p:nvSpPr>
            <p:spPr>
              <a:xfrm>
                <a:off x="2186182" y="574460"/>
                <a:ext cx="243039" cy="2665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00" h="21600" fill="norm" stroke="1" extrusionOk="0">
                    <a:moveTo>
                      <a:pt x="0" y="7842"/>
                    </a:moveTo>
                    <a:lnTo>
                      <a:pt x="15441" y="0"/>
                    </a:lnTo>
                    <a:lnTo>
                      <a:pt x="19899" y="7204"/>
                    </a:lnTo>
                    <a:cubicBezTo>
                      <a:pt x="20726" y="8539"/>
                      <a:pt x="21232" y="9624"/>
                      <a:pt x="21416" y="10459"/>
                    </a:cubicBezTo>
                    <a:cubicBezTo>
                      <a:pt x="21600" y="11293"/>
                      <a:pt x="21482" y="12102"/>
                      <a:pt x="21061" y="12884"/>
                    </a:cubicBezTo>
                    <a:cubicBezTo>
                      <a:pt x="20648" y="13662"/>
                      <a:pt x="19950" y="14301"/>
                      <a:pt x="18967" y="14800"/>
                    </a:cubicBezTo>
                    <a:cubicBezTo>
                      <a:pt x="18110" y="15235"/>
                      <a:pt x="17267" y="15446"/>
                      <a:pt x="16437" y="15432"/>
                    </a:cubicBezTo>
                    <a:cubicBezTo>
                      <a:pt x="15614" y="15416"/>
                      <a:pt x="14831" y="15216"/>
                      <a:pt x="14086" y="14833"/>
                    </a:cubicBezTo>
                    <a:cubicBezTo>
                      <a:pt x="13612" y="14589"/>
                      <a:pt x="13096" y="14187"/>
                      <a:pt x="12537" y="13626"/>
                    </a:cubicBezTo>
                    <a:cubicBezTo>
                      <a:pt x="12666" y="14238"/>
                      <a:pt x="12709" y="14709"/>
                      <a:pt x="12665" y="15041"/>
                    </a:cubicBezTo>
                    <a:cubicBezTo>
                      <a:pt x="12636" y="15264"/>
                      <a:pt x="12508" y="15630"/>
                      <a:pt x="12279" y="16140"/>
                    </a:cubicBezTo>
                    <a:cubicBezTo>
                      <a:pt x="12053" y="16655"/>
                      <a:pt x="11860" y="17021"/>
                      <a:pt x="11698" y="17237"/>
                    </a:cubicBezTo>
                    <a:lnTo>
                      <a:pt x="8515" y="21600"/>
                    </a:lnTo>
                    <a:lnTo>
                      <a:pt x="5491" y="16715"/>
                    </a:lnTo>
                    <a:lnTo>
                      <a:pt x="8781" y="12010"/>
                    </a:lnTo>
                    <a:cubicBezTo>
                      <a:pt x="9211" y="11407"/>
                      <a:pt x="9446" y="10944"/>
                      <a:pt x="9487" y="10623"/>
                    </a:cubicBezTo>
                    <a:cubicBezTo>
                      <a:pt x="9533" y="10190"/>
                      <a:pt x="9434" y="9776"/>
                      <a:pt x="9190" y="9382"/>
                    </a:cubicBezTo>
                    <a:lnTo>
                      <a:pt x="8953" y="9000"/>
                    </a:lnTo>
                    <a:lnTo>
                      <a:pt x="2686" y="12183"/>
                    </a:lnTo>
                    <a:close/>
                    <a:moveTo>
                      <a:pt x="11871" y="7519"/>
                    </a:moveTo>
                    <a:lnTo>
                      <a:pt x="12999" y="9341"/>
                    </a:lnTo>
                    <a:cubicBezTo>
                      <a:pt x="13121" y="9538"/>
                      <a:pt x="13428" y="9884"/>
                      <a:pt x="13919" y="10379"/>
                    </a:cubicBezTo>
                    <a:cubicBezTo>
                      <a:pt x="14159" y="10633"/>
                      <a:pt x="14464" y="10783"/>
                      <a:pt x="14834" y="10829"/>
                    </a:cubicBezTo>
                    <a:cubicBezTo>
                      <a:pt x="15208" y="10882"/>
                      <a:pt x="15564" y="10822"/>
                      <a:pt x="15901" y="10651"/>
                    </a:cubicBezTo>
                    <a:cubicBezTo>
                      <a:pt x="16399" y="10398"/>
                      <a:pt x="16693" y="10061"/>
                      <a:pt x="16783" y="9639"/>
                    </a:cubicBezTo>
                    <a:cubicBezTo>
                      <a:pt x="16873" y="9217"/>
                      <a:pt x="16673" y="8612"/>
                      <a:pt x="16185" y="7823"/>
                    </a:cubicBezTo>
                    <a:lnTo>
                      <a:pt x="15010" y="5925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8" name="Google Shape;85;p13"/>
              <p:cNvSpPr/>
              <p:nvPr/>
            </p:nvSpPr>
            <p:spPr>
              <a:xfrm>
                <a:off x="2291864" y="810610"/>
                <a:ext cx="238310" cy="1681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198" y="0"/>
                    </a:moveTo>
                    <a:lnTo>
                      <a:pt x="21600" y="18418"/>
                    </a:lnTo>
                    <a:lnTo>
                      <a:pt x="17905" y="20154"/>
                    </a:lnTo>
                    <a:lnTo>
                      <a:pt x="15291" y="9218"/>
                    </a:lnTo>
                    <a:lnTo>
                      <a:pt x="12288" y="10628"/>
                    </a:lnTo>
                    <a:lnTo>
                      <a:pt x="14520" y="19969"/>
                    </a:lnTo>
                    <a:lnTo>
                      <a:pt x="11048" y="21600"/>
                    </a:lnTo>
                    <a:lnTo>
                      <a:pt x="8815" y="12259"/>
                    </a:lnTo>
                    <a:lnTo>
                      <a:pt x="1788" y="15559"/>
                    </a:lnTo>
                    <a:lnTo>
                      <a:pt x="0" y="8077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9" name="Google Shape;86;p13"/>
              <p:cNvSpPr/>
              <p:nvPr/>
            </p:nvSpPr>
            <p:spPr>
              <a:xfrm>
                <a:off x="2341645" y="1017210"/>
                <a:ext cx="217838" cy="2134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200" y="13755"/>
                    </a:moveTo>
                    <a:lnTo>
                      <a:pt x="4239" y="6772"/>
                    </a:lnTo>
                    <a:lnTo>
                      <a:pt x="862" y="6266"/>
                    </a:lnTo>
                    <a:lnTo>
                      <a:pt x="0" y="0"/>
                    </a:lnTo>
                    <a:lnTo>
                      <a:pt x="20680" y="4700"/>
                    </a:lnTo>
                    <a:lnTo>
                      <a:pt x="21600" y="11386"/>
                    </a:lnTo>
                    <a:lnTo>
                      <a:pt x="2973" y="21600"/>
                    </a:lnTo>
                    <a:lnTo>
                      <a:pt x="2090" y="15185"/>
                    </a:lnTo>
                    <a:close/>
                    <a:moveTo>
                      <a:pt x="9273" y="11873"/>
                    </a:moveTo>
                    <a:lnTo>
                      <a:pt x="16036" y="8690"/>
                    </a:lnTo>
                    <a:lnTo>
                      <a:pt x="8671" y="7502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0" name="Google Shape;87;p13"/>
              <p:cNvSpPr/>
              <p:nvPr/>
            </p:nvSpPr>
            <p:spPr>
              <a:xfrm>
                <a:off x="2359272" y="1258567"/>
                <a:ext cx="207598" cy="193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22" h="21455" fill="norm" stroke="1" extrusionOk="0">
                    <a:moveTo>
                      <a:pt x="8520" y="15272"/>
                    </a:moveTo>
                    <a:lnTo>
                      <a:pt x="6448" y="21075"/>
                    </a:lnTo>
                    <a:cubicBezTo>
                      <a:pt x="4917" y="20559"/>
                      <a:pt x="3658" y="19833"/>
                      <a:pt x="2671" y="18897"/>
                    </a:cubicBezTo>
                    <a:cubicBezTo>
                      <a:pt x="1684" y="17962"/>
                      <a:pt x="967" y="16837"/>
                      <a:pt x="520" y="15522"/>
                    </a:cubicBezTo>
                    <a:cubicBezTo>
                      <a:pt x="72" y="14217"/>
                      <a:pt x="-86" y="12584"/>
                      <a:pt x="44" y="10622"/>
                    </a:cubicBezTo>
                    <a:cubicBezTo>
                      <a:pt x="202" y="8242"/>
                      <a:pt x="653" y="6320"/>
                      <a:pt x="1397" y="4855"/>
                    </a:cubicBezTo>
                    <a:cubicBezTo>
                      <a:pt x="2150" y="3401"/>
                      <a:pt x="3378" y="2188"/>
                      <a:pt x="5082" y="1216"/>
                    </a:cubicBezTo>
                    <a:cubicBezTo>
                      <a:pt x="6787" y="244"/>
                      <a:pt x="8911" y="-145"/>
                      <a:pt x="11457" y="48"/>
                    </a:cubicBezTo>
                    <a:cubicBezTo>
                      <a:pt x="14850" y="305"/>
                      <a:pt x="17392" y="1464"/>
                      <a:pt x="19083" y="3523"/>
                    </a:cubicBezTo>
                    <a:cubicBezTo>
                      <a:pt x="20782" y="5593"/>
                      <a:pt x="21514" y="8391"/>
                      <a:pt x="21280" y="11916"/>
                    </a:cubicBezTo>
                    <a:cubicBezTo>
                      <a:pt x="21097" y="14674"/>
                      <a:pt x="20431" y="16800"/>
                      <a:pt x="19282" y="18295"/>
                    </a:cubicBezTo>
                    <a:cubicBezTo>
                      <a:pt x="18133" y="19799"/>
                      <a:pt x="16451" y="20852"/>
                      <a:pt x="14237" y="21455"/>
                    </a:cubicBezTo>
                    <a:lnTo>
                      <a:pt x="13389" y="15386"/>
                    </a:lnTo>
                    <a:cubicBezTo>
                      <a:pt x="14028" y="15224"/>
                      <a:pt x="14499" y="15040"/>
                      <a:pt x="14803" y="14833"/>
                    </a:cubicBezTo>
                    <a:cubicBezTo>
                      <a:pt x="15313" y="14491"/>
                      <a:pt x="15717" y="14056"/>
                      <a:pt x="16014" y="13528"/>
                    </a:cubicBezTo>
                    <a:cubicBezTo>
                      <a:pt x="16312" y="13001"/>
                      <a:pt x="16483" y="12398"/>
                      <a:pt x="16528" y="11721"/>
                    </a:cubicBezTo>
                    <a:cubicBezTo>
                      <a:pt x="16630" y="10188"/>
                      <a:pt x="16130" y="8969"/>
                      <a:pt x="15028" y="8065"/>
                    </a:cubicBezTo>
                    <a:cubicBezTo>
                      <a:pt x="14211" y="7382"/>
                      <a:pt x="12885" y="6971"/>
                      <a:pt x="11048" y="6832"/>
                    </a:cubicBezTo>
                    <a:cubicBezTo>
                      <a:pt x="8773" y="6660"/>
                      <a:pt x="7187" y="6910"/>
                      <a:pt x="6290" y="7582"/>
                    </a:cubicBezTo>
                    <a:cubicBezTo>
                      <a:pt x="5402" y="8256"/>
                      <a:pt x="4913" y="9260"/>
                      <a:pt x="4825" y="10594"/>
                    </a:cubicBezTo>
                    <a:cubicBezTo>
                      <a:pt x="4739" y="11888"/>
                      <a:pt x="5014" y="12890"/>
                      <a:pt x="5651" y="13599"/>
                    </a:cubicBezTo>
                    <a:cubicBezTo>
                      <a:pt x="6288" y="14317"/>
                      <a:pt x="7244" y="14875"/>
                      <a:pt x="8520" y="1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1" name="Google Shape;88;p13"/>
              <p:cNvSpPr/>
              <p:nvPr/>
            </p:nvSpPr>
            <p:spPr>
              <a:xfrm>
                <a:off x="2301261" y="1486296"/>
                <a:ext cx="238649" cy="211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5525"/>
                    </a:moveTo>
                    <a:lnTo>
                      <a:pt x="17494" y="21600"/>
                    </a:lnTo>
                    <a:lnTo>
                      <a:pt x="13775" y="20420"/>
                    </a:lnTo>
                    <a:lnTo>
                      <a:pt x="16345" y="10357"/>
                    </a:lnTo>
                    <a:lnTo>
                      <a:pt x="13577" y="9479"/>
                    </a:lnTo>
                    <a:lnTo>
                      <a:pt x="11193" y="18814"/>
                    </a:lnTo>
                    <a:lnTo>
                      <a:pt x="7640" y="17687"/>
                    </a:lnTo>
                    <a:lnTo>
                      <a:pt x="10024" y="8352"/>
                    </a:lnTo>
                    <a:lnTo>
                      <a:pt x="6590" y="7263"/>
                    </a:lnTo>
                    <a:lnTo>
                      <a:pt x="3945" y="17618"/>
                    </a:lnTo>
                    <a:lnTo>
                      <a:pt x="0" y="16367"/>
                    </a:lnTo>
                    <a:lnTo>
                      <a:pt x="41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2" name="Google Shape;89;p13"/>
              <p:cNvSpPr/>
              <p:nvPr/>
            </p:nvSpPr>
            <p:spPr>
              <a:xfrm>
                <a:off x="2227527" y="1703746"/>
                <a:ext cx="214664" cy="2009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2" h="21181" fill="norm" stroke="1" extrusionOk="0">
                    <a:moveTo>
                      <a:pt x="11939" y="700"/>
                    </a:moveTo>
                    <a:lnTo>
                      <a:pt x="9565" y="6325"/>
                    </a:lnTo>
                    <a:cubicBezTo>
                      <a:pt x="8658" y="5985"/>
                      <a:pt x="7892" y="5877"/>
                      <a:pt x="7268" y="6000"/>
                    </a:cubicBezTo>
                    <a:cubicBezTo>
                      <a:pt x="6256" y="6202"/>
                      <a:pt x="5479" y="6851"/>
                      <a:pt x="4935" y="7946"/>
                    </a:cubicBezTo>
                    <a:cubicBezTo>
                      <a:pt x="4530" y="8763"/>
                      <a:pt x="4401" y="9489"/>
                      <a:pt x="4547" y="10124"/>
                    </a:cubicBezTo>
                    <a:cubicBezTo>
                      <a:pt x="4697" y="10771"/>
                      <a:pt x="5015" y="11225"/>
                      <a:pt x="5500" y="11486"/>
                    </a:cubicBezTo>
                    <a:cubicBezTo>
                      <a:pt x="5960" y="11735"/>
                      <a:pt x="6477" y="11747"/>
                      <a:pt x="7050" y="11523"/>
                    </a:cubicBezTo>
                    <a:cubicBezTo>
                      <a:pt x="7622" y="11298"/>
                      <a:pt x="8451" y="10505"/>
                      <a:pt x="9534" y="9146"/>
                    </a:cubicBezTo>
                    <a:cubicBezTo>
                      <a:pt x="11321" y="6926"/>
                      <a:pt x="12928" y="5523"/>
                      <a:pt x="14356" y="4937"/>
                    </a:cubicBezTo>
                    <a:cubicBezTo>
                      <a:pt x="15788" y="4342"/>
                      <a:pt x="17199" y="4419"/>
                      <a:pt x="18589" y="5169"/>
                    </a:cubicBezTo>
                    <a:cubicBezTo>
                      <a:pt x="19502" y="5661"/>
                      <a:pt x="20227" y="6399"/>
                      <a:pt x="20764" y="7383"/>
                    </a:cubicBezTo>
                    <a:cubicBezTo>
                      <a:pt x="21304" y="8379"/>
                      <a:pt x="21531" y="9553"/>
                      <a:pt x="21444" y="10905"/>
                    </a:cubicBezTo>
                    <a:cubicBezTo>
                      <a:pt x="21361" y="12271"/>
                      <a:pt x="20841" y="13918"/>
                      <a:pt x="19884" y="15848"/>
                    </a:cubicBezTo>
                    <a:cubicBezTo>
                      <a:pt x="18710" y="18216"/>
                      <a:pt x="17392" y="19790"/>
                      <a:pt x="15929" y="20572"/>
                    </a:cubicBezTo>
                    <a:cubicBezTo>
                      <a:pt x="14470" y="21366"/>
                      <a:pt x="12760" y="21384"/>
                      <a:pt x="10801" y="20627"/>
                    </a:cubicBezTo>
                    <a:lnTo>
                      <a:pt x="13174" y="15066"/>
                    </a:lnTo>
                    <a:cubicBezTo>
                      <a:pt x="14046" y="15354"/>
                      <a:pt x="14778" y="15365"/>
                      <a:pt x="15371" y="15098"/>
                    </a:cubicBezTo>
                    <a:cubicBezTo>
                      <a:pt x="15961" y="14839"/>
                      <a:pt x="16456" y="14305"/>
                      <a:pt x="16857" y="13496"/>
                    </a:cubicBezTo>
                    <a:cubicBezTo>
                      <a:pt x="17187" y="12830"/>
                      <a:pt x="17299" y="12255"/>
                      <a:pt x="17191" y="11770"/>
                    </a:cubicBezTo>
                    <a:cubicBezTo>
                      <a:pt x="17092" y="11289"/>
                      <a:pt x="16848" y="10944"/>
                      <a:pt x="16460" y="10734"/>
                    </a:cubicBezTo>
                    <a:cubicBezTo>
                      <a:pt x="16177" y="10582"/>
                      <a:pt x="15853" y="10583"/>
                      <a:pt x="15489" y="10738"/>
                    </a:cubicBezTo>
                    <a:cubicBezTo>
                      <a:pt x="15121" y="10882"/>
                      <a:pt x="14585" y="11404"/>
                      <a:pt x="13882" y="12307"/>
                    </a:cubicBezTo>
                    <a:cubicBezTo>
                      <a:pt x="12124" y="14531"/>
                      <a:pt x="10710" y="16038"/>
                      <a:pt x="9642" y="16829"/>
                    </a:cubicBezTo>
                    <a:cubicBezTo>
                      <a:pt x="8577" y="17633"/>
                      <a:pt x="7532" y="18068"/>
                      <a:pt x="6506" y="18134"/>
                    </a:cubicBezTo>
                    <a:cubicBezTo>
                      <a:pt x="5475" y="18209"/>
                      <a:pt x="4475" y="17984"/>
                      <a:pt x="3505" y="17462"/>
                    </a:cubicBezTo>
                    <a:cubicBezTo>
                      <a:pt x="2366" y="16847"/>
                      <a:pt x="1478" y="15952"/>
                      <a:pt x="843" y="14776"/>
                    </a:cubicBezTo>
                    <a:cubicBezTo>
                      <a:pt x="207" y="13600"/>
                      <a:pt x="-69" y="12287"/>
                      <a:pt x="15" y="10837"/>
                    </a:cubicBezTo>
                    <a:cubicBezTo>
                      <a:pt x="107" y="9392"/>
                      <a:pt x="598" y="7771"/>
                      <a:pt x="1488" y="5977"/>
                    </a:cubicBezTo>
                    <a:cubicBezTo>
                      <a:pt x="3051" y="2825"/>
                      <a:pt x="4715" y="956"/>
                      <a:pt x="6481" y="370"/>
                    </a:cubicBezTo>
                    <a:cubicBezTo>
                      <a:pt x="8247" y="-216"/>
                      <a:pt x="10066" y="-105"/>
                      <a:pt x="11939" y="7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grpSp>
          <p:nvGrpSpPr>
            <p:cNvPr id="162" name="Google Shape;93;p13"/>
            <p:cNvGrpSpPr/>
            <p:nvPr/>
          </p:nvGrpSpPr>
          <p:grpSpPr>
            <a:xfrm>
              <a:off x="76288" y="1609059"/>
              <a:ext cx="1928365" cy="937691"/>
              <a:chOff x="-76" y="-122"/>
              <a:chExt cx="1928363" cy="937690"/>
            </a:xfrm>
          </p:grpSpPr>
          <p:sp>
            <p:nvSpPr>
              <p:cNvPr id="154" name="Google Shape;94;p13"/>
              <p:cNvSpPr/>
              <p:nvPr/>
            </p:nvSpPr>
            <p:spPr>
              <a:xfrm>
                <a:off x="1713005" y="541088"/>
                <a:ext cx="215283" cy="2130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41" h="21122" fill="norm" stroke="1" extrusionOk="0">
                    <a:moveTo>
                      <a:pt x="19148" y="5045"/>
                    </a:moveTo>
                    <a:cubicBezTo>
                      <a:pt x="20885" y="7738"/>
                      <a:pt x="21487" y="10318"/>
                      <a:pt x="20953" y="12784"/>
                    </a:cubicBezTo>
                    <a:cubicBezTo>
                      <a:pt x="20418" y="15251"/>
                      <a:pt x="18810" y="17347"/>
                      <a:pt x="16128" y="19072"/>
                    </a:cubicBezTo>
                    <a:cubicBezTo>
                      <a:pt x="13379" y="20841"/>
                      <a:pt x="10783" y="21465"/>
                      <a:pt x="8342" y="20944"/>
                    </a:cubicBezTo>
                    <a:cubicBezTo>
                      <a:pt x="5906" y="20431"/>
                      <a:pt x="3832" y="18847"/>
                      <a:pt x="2118" y="16191"/>
                    </a:cubicBezTo>
                    <a:cubicBezTo>
                      <a:pt x="874" y="14264"/>
                      <a:pt x="180" y="12471"/>
                      <a:pt x="35" y="10813"/>
                    </a:cubicBezTo>
                    <a:cubicBezTo>
                      <a:pt x="-113" y="9167"/>
                      <a:pt x="207" y="7603"/>
                      <a:pt x="993" y="6120"/>
                    </a:cubicBezTo>
                    <a:cubicBezTo>
                      <a:pt x="1777" y="4650"/>
                      <a:pt x="3086" y="3325"/>
                      <a:pt x="4919" y="2146"/>
                    </a:cubicBezTo>
                    <a:cubicBezTo>
                      <a:pt x="6782" y="947"/>
                      <a:pt x="8517" y="250"/>
                      <a:pt x="10124" y="55"/>
                    </a:cubicBezTo>
                    <a:cubicBezTo>
                      <a:pt x="11723" y="-135"/>
                      <a:pt x="13316" y="167"/>
                      <a:pt x="14902" y="962"/>
                    </a:cubicBezTo>
                    <a:cubicBezTo>
                      <a:pt x="16489" y="1756"/>
                      <a:pt x="17904" y="3117"/>
                      <a:pt x="19148" y="5045"/>
                    </a:cubicBezTo>
                    <a:close/>
                    <a:moveTo>
                      <a:pt x="14029" y="8306"/>
                    </a:moveTo>
                    <a:cubicBezTo>
                      <a:pt x="12954" y="6641"/>
                      <a:pt x="11874" y="5643"/>
                      <a:pt x="10789" y="5312"/>
                    </a:cubicBezTo>
                    <a:cubicBezTo>
                      <a:pt x="9696" y="4985"/>
                      <a:pt x="8616" y="5165"/>
                      <a:pt x="7549" y="5851"/>
                    </a:cubicBezTo>
                    <a:cubicBezTo>
                      <a:pt x="6452" y="6557"/>
                      <a:pt x="5833" y="7459"/>
                      <a:pt x="5692" y="8558"/>
                    </a:cubicBezTo>
                    <a:cubicBezTo>
                      <a:pt x="5551" y="9658"/>
                      <a:pt x="6076" y="11130"/>
                      <a:pt x="7266" y="12975"/>
                    </a:cubicBezTo>
                    <a:cubicBezTo>
                      <a:pt x="8268" y="14528"/>
                      <a:pt x="9315" y="15457"/>
                      <a:pt x="10406" y="15764"/>
                    </a:cubicBezTo>
                    <a:cubicBezTo>
                      <a:pt x="11494" y="16083"/>
                      <a:pt x="12575" y="15897"/>
                      <a:pt x="13649" y="15206"/>
                    </a:cubicBezTo>
                    <a:cubicBezTo>
                      <a:pt x="14678" y="14544"/>
                      <a:pt x="15270" y="13648"/>
                      <a:pt x="15424" y="12520"/>
                    </a:cubicBezTo>
                    <a:cubicBezTo>
                      <a:pt x="15578" y="11391"/>
                      <a:pt x="15113" y="9987"/>
                      <a:pt x="14029" y="83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5" name="Google Shape;95;p13"/>
              <p:cNvSpPr/>
              <p:nvPr/>
            </p:nvSpPr>
            <p:spPr>
              <a:xfrm>
                <a:off x="1456661" y="640331"/>
                <a:ext cx="248268" cy="250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6023"/>
                    </a:moveTo>
                    <a:lnTo>
                      <a:pt x="16879" y="17706"/>
                    </a:lnTo>
                    <a:lnTo>
                      <a:pt x="7425" y="11037"/>
                    </a:lnTo>
                    <a:lnTo>
                      <a:pt x="10719" y="19902"/>
                    </a:lnTo>
                    <a:lnTo>
                      <a:pt x="5954" y="21600"/>
                    </a:lnTo>
                    <a:lnTo>
                      <a:pt x="0" y="5577"/>
                    </a:lnTo>
                    <a:lnTo>
                      <a:pt x="4765" y="3878"/>
                    </a:lnTo>
                    <a:lnTo>
                      <a:pt x="14161" y="10493"/>
                    </a:lnTo>
                    <a:lnTo>
                      <a:pt x="10892" y="1694"/>
                    </a:lnTo>
                    <a:lnTo>
                      <a:pt x="15646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6" name="Google Shape;96;p13"/>
              <p:cNvSpPr/>
              <p:nvPr/>
            </p:nvSpPr>
            <p:spPr>
              <a:xfrm>
                <a:off x="1129240" y="735295"/>
                <a:ext cx="189635" cy="2022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0878"/>
                    </a:moveTo>
                    <a:lnTo>
                      <a:pt x="205" y="21600"/>
                    </a:lnTo>
                    <a:lnTo>
                      <a:pt x="0" y="16385"/>
                    </a:lnTo>
                    <a:lnTo>
                      <a:pt x="7178" y="16142"/>
                    </a:lnTo>
                    <a:lnTo>
                      <a:pt x="6554" y="238"/>
                    </a:lnTo>
                    <a:lnTo>
                      <a:pt x="13592" y="0"/>
                    </a:lnTo>
                    <a:lnTo>
                      <a:pt x="14217" y="15905"/>
                    </a:lnTo>
                    <a:lnTo>
                      <a:pt x="21395" y="15662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7" name="Google Shape;97;p13"/>
              <p:cNvSpPr/>
              <p:nvPr/>
            </p:nvSpPr>
            <p:spPr>
              <a:xfrm>
                <a:off x="857259" y="703055"/>
                <a:ext cx="224370" cy="228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8136" y="21600"/>
                    </a:moveTo>
                    <a:lnTo>
                      <a:pt x="12280" y="20562"/>
                    </a:lnTo>
                    <a:lnTo>
                      <a:pt x="13492" y="14129"/>
                    </a:lnTo>
                    <a:lnTo>
                      <a:pt x="7094" y="12994"/>
                    </a:lnTo>
                    <a:lnTo>
                      <a:pt x="5882" y="19427"/>
                    </a:lnTo>
                    <a:lnTo>
                      <a:pt x="0" y="18384"/>
                    </a:lnTo>
                    <a:lnTo>
                      <a:pt x="3464" y="0"/>
                    </a:lnTo>
                    <a:lnTo>
                      <a:pt x="9345" y="1043"/>
                    </a:lnTo>
                    <a:lnTo>
                      <a:pt x="7944" y="8479"/>
                    </a:lnTo>
                    <a:lnTo>
                      <a:pt x="14343" y="9614"/>
                    </a:lnTo>
                    <a:lnTo>
                      <a:pt x="15744" y="2178"/>
                    </a:lnTo>
                    <a:lnTo>
                      <a:pt x="21600" y="3216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8" name="Google Shape;98;p13"/>
              <p:cNvSpPr/>
              <p:nvPr/>
            </p:nvSpPr>
            <p:spPr>
              <a:xfrm>
                <a:off x="610383" y="620760"/>
                <a:ext cx="230758" cy="2473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277" y="21600"/>
                    </a:moveTo>
                    <a:lnTo>
                      <a:pt x="0" y="16006"/>
                    </a:lnTo>
                    <a:lnTo>
                      <a:pt x="1564" y="12610"/>
                    </a:lnTo>
                    <a:lnTo>
                      <a:pt x="10501" y="16112"/>
                    </a:lnTo>
                    <a:lnTo>
                      <a:pt x="11665" y="13585"/>
                    </a:lnTo>
                    <a:lnTo>
                      <a:pt x="3374" y="10336"/>
                    </a:lnTo>
                    <a:lnTo>
                      <a:pt x="4868" y="7092"/>
                    </a:lnTo>
                    <a:lnTo>
                      <a:pt x="13159" y="10341"/>
                    </a:lnTo>
                    <a:lnTo>
                      <a:pt x="14602" y="7205"/>
                    </a:lnTo>
                    <a:lnTo>
                      <a:pt x="5406" y="3602"/>
                    </a:lnTo>
                    <a:lnTo>
                      <a:pt x="7065" y="0"/>
                    </a:lnTo>
                    <a:lnTo>
                      <a:pt x="21600" y="5696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59" name="Google Shape;99;p13"/>
              <p:cNvSpPr/>
              <p:nvPr/>
            </p:nvSpPr>
            <p:spPr>
              <a:xfrm>
                <a:off x="227429" y="396642"/>
                <a:ext cx="308562" cy="303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308" y="21600"/>
                    </a:moveTo>
                    <a:lnTo>
                      <a:pt x="11307" y="18781"/>
                    </a:lnTo>
                    <a:lnTo>
                      <a:pt x="15570" y="12023"/>
                    </a:lnTo>
                    <a:lnTo>
                      <a:pt x="8648" y="16283"/>
                    </a:lnTo>
                    <a:lnTo>
                      <a:pt x="5653" y="13471"/>
                    </a:lnTo>
                    <a:lnTo>
                      <a:pt x="9414" y="6241"/>
                    </a:lnTo>
                    <a:lnTo>
                      <a:pt x="2987" y="10967"/>
                    </a:lnTo>
                    <a:lnTo>
                      <a:pt x="0" y="8161"/>
                    </a:lnTo>
                    <a:lnTo>
                      <a:pt x="11822" y="0"/>
                    </a:lnTo>
                    <a:lnTo>
                      <a:pt x="14921" y="2911"/>
                    </a:lnTo>
                    <a:lnTo>
                      <a:pt x="10691" y="11067"/>
                    </a:lnTo>
                    <a:lnTo>
                      <a:pt x="18501" y="6274"/>
                    </a:lnTo>
                    <a:lnTo>
                      <a:pt x="21600" y="9185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60" name="Google Shape;100;p13"/>
              <p:cNvSpPr/>
              <p:nvPr/>
            </p:nvSpPr>
            <p:spPr>
              <a:xfrm>
                <a:off x="89432" y="196189"/>
                <a:ext cx="258107" cy="2477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564" y="21600"/>
                    </a:moveTo>
                    <a:lnTo>
                      <a:pt x="0" y="9626"/>
                    </a:lnTo>
                    <a:lnTo>
                      <a:pt x="2997" y="7617"/>
                    </a:lnTo>
                    <a:lnTo>
                      <a:pt x="7732" y="15113"/>
                    </a:lnTo>
                    <a:lnTo>
                      <a:pt x="9963" y="13618"/>
                    </a:lnTo>
                    <a:lnTo>
                      <a:pt x="5570" y="6664"/>
                    </a:lnTo>
                    <a:lnTo>
                      <a:pt x="8433" y="4745"/>
                    </a:lnTo>
                    <a:lnTo>
                      <a:pt x="12826" y="11699"/>
                    </a:lnTo>
                    <a:lnTo>
                      <a:pt x="15593" y="9844"/>
                    </a:lnTo>
                    <a:lnTo>
                      <a:pt x="10720" y="2131"/>
                    </a:lnTo>
                    <a:lnTo>
                      <a:pt x="13899" y="0"/>
                    </a:lnTo>
                    <a:lnTo>
                      <a:pt x="21600" y="1219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61" name="Google Shape;101;p13"/>
              <p:cNvSpPr/>
              <p:nvPr/>
            </p:nvSpPr>
            <p:spPr>
              <a:xfrm>
                <a:off x="-77" y="-123"/>
                <a:ext cx="234128" cy="225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1" h="21518" fill="norm" stroke="1" extrusionOk="0">
                    <a:moveTo>
                      <a:pt x="4323" y="21518"/>
                    </a:moveTo>
                    <a:lnTo>
                      <a:pt x="537" y="11307"/>
                    </a:lnTo>
                    <a:cubicBezTo>
                      <a:pt x="-94" y="9605"/>
                      <a:pt x="-169" y="8140"/>
                      <a:pt x="312" y="6910"/>
                    </a:cubicBezTo>
                    <a:cubicBezTo>
                      <a:pt x="789" y="5673"/>
                      <a:pt x="1631" y="4816"/>
                      <a:pt x="2837" y="4340"/>
                    </a:cubicBezTo>
                    <a:cubicBezTo>
                      <a:pt x="3848" y="3941"/>
                      <a:pt x="4836" y="3923"/>
                      <a:pt x="5801" y="4288"/>
                    </a:cubicBezTo>
                    <a:cubicBezTo>
                      <a:pt x="6444" y="4531"/>
                      <a:pt x="7060" y="5015"/>
                      <a:pt x="7650" y="5739"/>
                    </a:cubicBezTo>
                    <a:cubicBezTo>
                      <a:pt x="7475" y="4354"/>
                      <a:pt x="7640" y="3222"/>
                      <a:pt x="8143" y="2342"/>
                    </a:cubicBezTo>
                    <a:cubicBezTo>
                      <a:pt x="8635" y="1457"/>
                      <a:pt x="9426" y="800"/>
                      <a:pt x="10515" y="370"/>
                    </a:cubicBezTo>
                    <a:cubicBezTo>
                      <a:pt x="11402" y="20"/>
                      <a:pt x="12279" y="-82"/>
                      <a:pt x="13144" y="64"/>
                    </a:cubicBezTo>
                    <a:cubicBezTo>
                      <a:pt x="14010" y="210"/>
                      <a:pt x="14786" y="571"/>
                      <a:pt x="15472" y="1147"/>
                    </a:cubicBezTo>
                    <a:cubicBezTo>
                      <a:pt x="15898" y="1503"/>
                      <a:pt x="16341" y="2119"/>
                      <a:pt x="16800" y="2996"/>
                    </a:cubicBezTo>
                    <a:cubicBezTo>
                      <a:pt x="17411" y="4163"/>
                      <a:pt x="17791" y="4947"/>
                      <a:pt x="17940" y="5349"/>
                    </a:cubicBezTo>
                    <a:lnTo>
                      <a:pt x="21431" y="14765"/>
                    </a:lnTo>
                    <a:close/>
                    <a:moveTo>
                      <a:pt x="8993" y="13366"/>
                    </a:moveTo>
                    <a:lnTo>
                      <a:pt x="8113" y="10994"/>
                    </a:lnTo>
                    <a:cubicBezTo>
                      <a:pt x="7798" y="10143"/>
                      <a:pt x="7439" y="9609"/>
                      <a:pt x="7037" y="9390"/>
                    </a:cubicBezTo>
                    <a:cubicBezTo>
                      <a:pt x="6624" y="9167"/>
                      <a:pt x="6149" y="9161"/>
                      <a:pt x="5613" y="9372"/>
                    </a:cubicBezTo>
                    <a:cubicBezTo>
                      <a:pt x="5115" y="9569"/>
                      <a:pt x="4788" y="9891"/>
                      <a:pt x="4633" y="10338"/>
                    </a:cubicBezTo>
                    <a:cubicBezTo>
                      <a:pt x="4475" y="10778"/>
                      <a:pt x="4549" y="11411"/>
                      <a:pt x="4856" y="12238"/>
                    </a:cubicBezTo>
                    <a:lnTo>
                      <a:pt x="5749" y="14646"/>
                    </a:lnTo>
                    <a:close/>
                    <a:moveTo>
                      <a:pt x="15715" y="10713"/>
                    </a:moveTo>
                    <a:lnTo>
                      <a:pt x="14683" y="7932"/>
                    </a:lnTo>
                    <a:cubicBezTo>
                      <a:pt x="14335" y="6992"/>
                      <a:pt x="13930" y="6393"/>
                      <a:pt x="13468" y="6134"/>
                    </a:cubicBezTo>
                    <a:cubicBezTo>
                      <a:pt x="12999" y="5877"/>
                      <a:pt x="12492" y="5857"/>
                      <a:pt x="11947" y="6072"/>
                    </a:cubicBezTo>
                    <a:cubicBezTo>
                      <a:pt x="11441" y="6271"/>
                      <a:pt x="11108" y="6624"/>
                      <a:pt x="10948" y="7129"/>
                    </a:cubicBezTo>
                    <a:cubicBezTo>
                      <a:pt x="10776" y="7629"/>
                      <a:pt x="10868" y="8357"/>
                      <a:pt x="11222" y="9312"/>
                    </a:cubicBezTo>
                    <a:lnTo>
                      <a:pt x="12249" y="1208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</p:grpSp>
      <p:sp>
        <p:nvSpPr>
          <p:cNvPr id="164" name="Title 51"/>
          <p:cNvSpPr txBox="1"/>
          <p:nvPr>
            <p:ph type="ctrTitle"/>
          </p:nvPr>
        </p:nvSpPr>
        <p:spPr>
          <a:xfrm>
            <a:off x="0" y="0"/>
            <a:ext cx="12192000" cy="5004262"/>
          </a:xfrm>
          <a:prstGeom prst="rect">
            <a:avLst/>
          </a:prstGeom>
        </p:spPr>
        <p:txBody>
          <a:bodyPr/>
          <a:lstStyle/>
          <a:p>
            <a:pPr/>
            <a:r>
              <a:t>LionWeb:</a:t>
            </a:r>
            <a:br/>
            <a:r>
              <a:t>Status +</a:t>
            </a:r>
            <a:br/>
            <a:r>
              <a:t>Use cases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Short introduction</a:t>
            </a:r>
          </a:p>
        </p:txBody>
      </p:sp>
      <p:sp>
        <p:nvSpPr>
          <p:cNvPr id="167" name="Text Placeholder 4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68" name="Graphic 5" descr="Graphic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5121" y="3394947"/>
            <a:ext cx="1121758" cy="11277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Mission</a:t>
            </a:r>
          </a:p>
        </p:txBody>
      </p:sp>
      <p:sp>
        <p:nvSpPr>
          <p:cNvPr id="171" name="Tex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lIns="121899" tIns="121899" rIns="121899" bIns="121899"/>
          <a:lstStyle/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t>Adopt language engineering</a:t>
            </a:r>
          </a:p>
          <a:p>
            <a:pPr/>
            <a:r>
              <a:t>Reduce vendor lock-in</a:t>
            </a:r>
          </a:p>
          <a:p>
            <a:pPr/>
            <a:r>
              <a:t>Mix and match components</a:t>
            </a:r>
          </a:p>
          <a:p>
            <a:pPr/>
            <a:r>
              <a:t>Foster innovation and incremental improvements</a:t>
            </a:r>
          </a:p>
        </p:txBody>
      </p:sp>
      <p:grpSp>
        <p:nvGrpSpPr>
          <p:cNvPr id="174" name="TextBox 4"/>
          <p:cNvGrpSpPr/>
          <p:nvPr/>
        </p:nvGrpSpPr>
        <p:grpSpPr>
          <a:xfrm>
            <a:off x="1726222" y="1764565"/>
            <a:ext cx="8739556" cy="1916723"/>
            <a:chOff x="0" y="0"/>
            <a:chExt cx="8739554" cy="1916721"/>
          </a:xfrm>
        </p:grpSpPr>
        <p:sp>
          <p:nvSpPr>
            <p:cNvPr id="172" name="Rectangle"/>
            <p:cNvSpPr/>
            <p:nvPr/>
          </p:nvSpPr>
          <p:spPr>
            <a:xfrm>
              <a:off x="-1" y="0"/>
              <a:ext cx="8739556" cy="1916722"/>
            </a:xfrm>
            <a:prstGeom prst="rect">
              <a:avLst/>
            </a:prstGeom>
            <a:solidFill>
              <a:srgbClr val="E6752A">
                <a:alpha val="24837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73" name="To create an ecosystem of interoperable components for building language-oriented modeling tools on the web."/>
            <p:cNvSpPr txBox="1"/>
            <p:nvPr/>
          </p:nvSpPr>
          <p:spPr>
            <a:xfrm>
              <a:off x="45719" y="169691"/>
              <a:ext cx="8648115" cy="15773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3200">
                  <a:latin typeface="Lato Bold"/>
                  <a:ea typeface="Lato Bold"/>
                  <a:cs typeface="Lato Bold"/>
                  <a:sym typeface="Lato Bold"/>
                </a:defRPr>
              </a:lvl1pPr>
            </a:lstStyle>
            <a:p>
              <a:pPr/>
              <a:r>
                <a:t>To create an ecosystem of interoperable components for building language-oriented modeling tools on the web.</a:t>
              </a:r>
            </a:p>
          </p:txBody>
        </p:sp>
      </p:grpSp>
      <p:pic>
        <p:nvPicPr>
          <p:cNvPr id="175" name="Graphic 5" descr="Graphic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532"/>
          <p:cNvGrpSpPr/>
          <p:nvPr/>
        </p:nvGrpSpPr>
        <p:grpSpPr>
          <a:xfrm>
            <a:off x="4123404" y="2700353"/>
            <a:ext cx="2975576" cy="1689129"/>
            <a:chOff x="0" y="0"/>
            <a:chExt cx="2975575" cy="1689127"/>
          </a:xfrm>
        </p:grpSpPr>
        <p:sp>
          <p:nvSpPr>
            <p:cNvPr id="177" name="Freeform: Shape 403"/>
            <p:cNvSpPr/>
            <p:nvPr/>
          </p:nvSpPr>
          <p:spPr>
            <a:xfrm flipH="1" flipV="1">
              <a:off x="1805711" y="1327944"/>
              <a:ext cx="402976" cy="361184"/>
            </a:xfrm>
            <a:prstGeom prst="line">
              <a:avLst/>
            </a:prstGeom>
            <a:noFill/>
            <a:ln w="74961" cap="flat">
              <a:solidFill>
                <a:srgbClr val="E675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8" name="Freeform: Shape 404"/>
            <p:cNvSpPr/>
            <p:nvPr/>
          </p:nvSpPr>
          <p:spPr>
            <a:xfrm flipH="1" flipV="1">
              <a:off x="2112461" y="847513"/>
              <a:ext cx="863115" cy="83618"/>
            </a:xfrm>
            <a:prstGeom prst="line">
              <a:avLst/>
            </a:prstGeom>
            <a:noFill/>
            <a:ln w="74961" cap="flat">
              <a:solidFill>
                <a:srgbClr val="E675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9" name="Freeform: Shape 405"/>
            <p:cNvSpPr/>
            <p:nvPr/>
          </p:nvSpPr>
          <p:spPr>
            <a:xfrm flipH="1">
              <a:off x="1947377" y="-1"/>
              <a:ext cx="803341" cy="408951"/>
            </a:xfrm>
            <a:prstGeom prst="line">
              <a:avLst/>
            </a:prstGeom>
            <a:noFill/>
            <a:ln w="74961" cap="flat">
              <a:solidFill>
                <a:srgbClr val="E675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0" name="Freeform: Shape 406"/>
            <p:cNvSpPr/>
            <p:nvPr/>
          </p:nvSpPr>
          <p:spPr>
            <a:xfrm flipV="1">
              <a:off x="233995" y="1197404"/>
              <a:ext cx="596209" cy="454161"/>
            </a:xfrm>
            <a:prstGeom prst="line">
              <a:avLst/>
            </a:prstGeom>
            <a:noFill/>
            <a:ln w="74961" cap="flat">
              <a:solidFill>
                <a:srgbClr val="E675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1" name="Freeform: Shape 407"/>
            <p:cNvSpPr/>
            <p:nvPr/>
          </p:nvSpPr>
          <p:spPr>
            <a:xfrm>
              <a:off x="0" y="554388"/>
              <a:ext cx="703983" cy="92955"/>
            </a:xfrm>
            <a:prstGeom prst="line">
              <a:avLst/>
            </a:prstGeom>
            <a:noFill/>
            <a:ln w="74961" cap="flat">
              <a:solidFill>
                <a:srgbClr val="E6752A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85" name="Group 54"/>
          <p:cNvGrpSpPr/>
          <p:nvPr/>
        </p:nvGrpSpPr>
        <p:grpSpPr>
          <a:xfrm>
            <a:off x="4121175" y="3251124"/>
            <a:ext cx="830204" cy="1097176"/>
            <a:chOff x="0" y="0"/>
            <a:chExt cx="830203" cy="1097175"/>
          </a:xfrm>
        </p:grpSpPr>
        <p:sp>
          <p:nvSpPr>
            <p:cNvPr id="183" name="Freeform: Shape 407"/>
            <p:cNvSpPr/>
            <p:nvPr/>
          </p:nvSpPr>
          <p:spPr>
            <a:xfrm>
              <a:off x="-1" y="-1"/>
              <a:ext cx="703984" cy="92956"/>
            </a:xfrm>
            <a:prstGeom prst="line">
              <a:avLst/>
            </a:prstGeom>
            <a:noFill/>
            <a:ln w="74961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4" name="Freeform: Shape 406"/>
            <p:cNvSpPr/>
            <p:nvPr/>
          </p:nvSpPr>
          <p:spPr>
            <a:xfrm flipV="1">
              <a:off x="233995" y="643015"/>
              <a:ext cx="596208" cy="454161"/>
            </a:xfrm>
            <a:prstGeom prst="line">
              <a:avLst/>
            </a:prstGeom>
            <a:noFill/>
            <a:ln w="74961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14" name="Group 29"/>
          <p:cNvGrpSpPr/>
          <p:nvPr/>
        </p:nvGrpSpPr>
        <p:grpSpPr>
          <a:xfrm>
            <a:off x="3104619" y="2842941"/>
            <a:ext cx="1220373" cy="1733872"/>
            <a:chOff x="0" y="-19050"/>
            <a:chExt cx="1220372" cy="1733871"/>
          </a:xfrm>
        </p:grpSpPr>
        <p:grpSp>
          <p:nvGrpSpPr>
            <p:cNvPr id="196" name="Graphic 4"/>
            <p:cNvGrpSpPr/>
            <p:nvPr/>
          </p:nvGrpSpPr>
          <p:grpSpPr>
            <a:xfrm>
              <a:off x="600985" y="1214831"/>
              <a:ext cx="619388" cy="499991"/>
              <a:chOff x="0" y="0"/>
              <a:chExt cx="619386" cy="499989"/>
            </a:xfrm>
          </p:grpSpPr>
          <p:sp>
            <p:nvSpPr>
              <p:cNvPr id="186" name="Freeform: Shape 506"/>
              <p:cNvSpPr/>
              <p:nvPr/>
            </p:nvSpPr>
            <p:spPr>
              <a:xfrm>
                <a:off x="0" y="0"/>
                <a:ext cx="619387" cy="499990"/>
              </a:xfrm>
              <a:prstGeom prst="rect">
                <a:avLst/>
              </a:prstGeom>
              <a:solidFill>
                <a:srgbClr val="727272"/>
              </a:solidFill>
              <a:ln w="120091" cap="rnd">
                <a:solidFill>
                  <a:srgbClr val="72727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87" name="Freeform: Shape 507"/>
              <p:cNvSpPr/>
              <p:nvPr/>
            </p:nvSpPr>
            <p:spPr>
              <a:xfrm>
                <a:off x="28774" y="19079"/>
                <a:ext cx="19643" cy="19264"/>
              </a:xfrm>
              <a:prstGeom prst="ellipse">
                <a:avLst/>
              </a:prstGeom>
              <a:solidFill>
                <a:srgbClr val="FFFFFF"/>
              </a:solidFill>
              <a:ln w="38144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88" name="Freeform: Shape 508"/>
              <p:cNvSpPr/>
              <p:nvPr/>
            </p:nvSpPr>
            <p:spPr>
              <a:xfrm>
                <a:off x="97212" y="19079"/>
                <a:ext cx="19643" cy="19264"/>
              </a:xfrm>
              <a:prstGeom prst="ellipse">
                <a:avLst/>
              </a:prstGeom>
              <a:solidFill>
                <a:srgbClr val="FFFFFF"/>
              </a:solidFill>
              <a:ln w="38144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89" name="Freeform: Shape 509"/>
              <p:cNvSpPr/>
              <p:nvPr/>
            </p:nvSpPr>
            <p:spPr>
              <a:xfrm>
                <a:off x="165649" y="19079"/>
                <a:ext cx="19644" cy="19264"/>
              </a:xfrm>
              <a:prstGeom prst="ellipse">
                <a:avLst/>
              </a:prstGeom>
              <a:solidFill>
                <a:srgbClr val="FFFFFF"/>
              </a:solidFill>
              <a:ln w="38144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90" name="Freeform: Shape 510"/>
              <p:cNvSpPr/>
              <p:nvPr/>
            </p:nvSpPr>
            <p:spPr>
              <a:xfrm>
                <a:off x="14689" y="110260"/>
                <a:ext cx="589592" cy="374214"/>
              </a:xfrm>
              <a:prstGeom prst="rect">
                <a:avLst/>
              </a:prstGeom>
              <a:solidFill>
                <a:srgbClr val="FFFFFF"/>
              </a:solidFill>
              <a:ln w="24018" cap="sq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91" name="Freeform: Shape 511"/>
              <p:cNvSpPr/>
              <p:nvPr/>
            </p:nvSpPr>
            <p:spPr>
              <a:xfrm>
                <a:off x="106603" y="190831"/>
                <a:ext cx="267452" cy="281"/>
              </a:xfrm>
              <a:prstGeom prst="line">
                <a:avLst/>
              </a:prstGeom>
              <a:noFill/>
              <a:ln w="66451" cap="sq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2" name="Freeform: Shape 512"/>
              <p:cNvSpPr/>
              <p:nvPr/>
            </p:nvSpPr>
            <p:spPr>
              <a:xfrm>
                <a:off x="106603" y="298210"/>
                <a:ext cx="267452" cy="281"/>
              </a:xfrm>
              <a:prstGeom prst="line">
                <a:avLst/>
              </a:prstGeom>
              <a:noFill/>
              <a:ln w="66451" cap="sq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3" name="Freeform: Shape 513"/>
              <p:cNvSpPr/>
              <p:nvPr/>
            </p:nvSpPr>
            <p:spPr>
              <a:xfrm>
                <a:off x="108697" y="405590"/>
                <a:ext cx="267445" cy="281"/>
              </a:xfrm>
              <a:prstGeom prst="line">
                <a:avLst/>
              </a:prstGeom>
              <a:noFill/>
              <a:ln w="66451" cap="sq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4" name="Freeform: Shape 514"/>
              <p:cNvSpPr/>
              <p:nvPr/>
            </p:nvSpPr>
            <p:spPr>
              <a:xfrm>
                <a:off x="277711" y="139907"/>
                <a:ext cx="289309" cy="3123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11" h="21507" fill="norm" stroke="1" extrusionOk="0">
                    <a:moveTo>
                      <a:pt x="12801" y="1"/>
                    </a:moveTo>
                    <a:cubicBezTo>
                      <a:pt x="11706" y="59"/>
                      <a:pt x="10810" y="774"/>
                      <a:pt x="10197" y="1557"/>
                    </a:cubicBezTo>
                    <a:cubicBezTo>
                      <a:pt x="7083" y="4997"/>
                      <a:pt x="3949" y="8423"/>
                      <a:pt x="856" y="11878"/>
                    </a:cubicBezTo>
                    <a:cubicBezTo>
                      <a:pt x="115" y="12906"/>
                      <a:pt x="304" y="14183"/>
                      <a:pt x="181" y="15347"/>
                    </a:cubicBezTo>
                    <a:cubicBezTo>
                      <a:pt x="125" y="16575"/>
                      <a:pt x="-11" y="17803"/>
                      <a:pt x="1" y="19031"/>
                    </a:cubicBezTo>
                    <a:cubicBezTo>
                      <a:pt x="153" y="19950"/>
                      <a:pt x="670" y="20951"/>
                      <a:pt x="1707" y="21250"/>
                    </a:cubicBezTo>
                    <a:cubicBezTo>
                      <a:pt x="2479" y="21583"/>
                      <a:pt x="3378" y="21579"/>
                      <a:pt x="4172" y="21315"/>
                    </a:cubicBezTo>
                    <a:cubicBezTo>
                      <a:pt x="6040" y="20879"/>
                      <a:pt x="7939" y="20543"/>
                      <a:pt x="9779" y="20016"/>
                    </a:cubicBezTo>
                    <a:cubicBezTo>
                      <a:pt x="10938" y="19504"/>
                      <a:pt x="11573" y="18425"/>
                      <a:pt x="12417" y="17589"/>
                    </a:cubicBezTo>
                    <a:cubicBezTo>
                      <a:pt x="15185" y="14531"/>
                      <a:pt x="17966" y="11483"/>
                      <a:pt x="20727" y="8420"/>
                    </a:cubicBezTo>
                    <a:cubicBezTo>
                      <a:pt x="21311" y="7557"/>
                      <a:pt x="21589" y="6368"/>
                      <a:pt x="20924" y="5473"/>
                    </a:cubicBezTo>
                    <a:cubicBezTo>
                      <a:pt x="20362" y="4585"/>
                      <a:pt x="19344" y="4080"/>
                      <a:pt x="18545" y="3398"/>
                    </a:cubicBezTo>
                    <a:cubicBezTo>
                      <a:pt x="17245" y="2425"/>
                      <a:pt x="15982" y="1405"/>
                      <a:pt x="14650" y="471"/>
                    </a:cubicBezTo>
                    <a:cubicBezTo>
                      <a:pt x="14085" y="196"/>
                      <a:pt x="13451" y="-17"/>
                      <a:pt x="12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451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95" name="Freeform: Shape 515"/>
              <p:cNvSpPr/>
              <p:nvPr/>
            </p:nvSpPr>
            <p:spPr>
              <a:xfrm>
                <a:off x="316173" y="177410"/>
                <a:ext cx="212684" cy="2372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005" y="0"/>
                    </a:moveTo>
                    <a:lnTo>
                      <a:pt x="21600" y="5549"/>
                    </a:lnTo>
                    <a:lnTo>
                      <a:pt x="8032" y="19896"/>
                    </a:lnTo>
                    <a:lnTo>
                      <a:pt x="0" y="21600"/>
                    </a:lnTo>
                    <a:lnTo>
                      <a:pt x="459" y="14324"/>
                    </a:lnTo>
                    <a:close/>
                  </a:path>
                </a:pathLst>
              </a:custGeom>
              <a:noFill/>
              <a:ln w="66451" cap="rnd">
                <a:solidFill>
                  <a:srgbClr val="72727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</p:grpSp>
        <p:grpSp>
          <p:nvGrpSpPr>
            <p:cNvPr id="207" name="Graphic 4"/>
            <p:cNvGrpSpPr/>
            <p:nvPr/>
          </p:nvGrpSpPr>
          <p:grpSpPr>
            <a:xfrm>
              <a:off x="360489" y="163405"/>
              <a:ext cx="619388" cy="499990"/>
              <a:chOff x="0" y="0"/>
              <a:chExt cx="619386" cy="499989"/>
            </a:xfrm>
          </p:grpSpPr>
          <p:sp>
            <p:nvSpPr>
              <p:cNvPr id="197" name="Freeform: Shape 496"/>
              <p:cNvSpPr/>
              <p:nvPr/>
            </p:nvSpPr>
            <p:spPr>
              <a:xfrm>
                <a:off x="0" y="0"/>
                <a:ext cx="619387" cy="499990"/>
              </a:xfrm>
              <a:prstGeom prst="rect">
                <a:avLst/>
              </a:prstGeom>
              <a:solidFill>
                <a:srgbClr val="727272"/>
              </a:solidFill>
              <a:ln w="120091" cap="rnd">
                <a:solidFill>
                  <a:srgbClr val="72727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98" name="Freeform: Shape 497"/>
              <p:cNvSpPr/>
              <p:nvPr/>
            </p:nvSpPr>
            <p:spPr>
              <a:xfrm>
                <a:off x="28775" y="19079"/>
                <a:ext cx="19643" cy="19264"/>
              </a:xfrm>
              <a:prstGeom prst="ellipse">
                <a:avLst/>
              </a:prstGeom>
              <a:solidFill>
                <a:srgbClr val="FFFFFF"/>
              </a:solidFill>
              <a:ln w="38144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199" name="Freeform: Shape 498"/>
              <p:cNvSpPr/>
              <p:nvPr/>
            </p:nvSpPr>
            <p:spPr>
              <a:xfrm>
                <a:off x="97212" y="19079"/>
                <a:ext cx="19644" cy="19264"/>
              </a:xfrm>
              <a:prstGeom prst="ellipse">
                <a:avLst/>
              </a:prstGeom>
              <a:solidFill>
                <a:srgbClr val="FFFFFF"/>
              </a:solidFill>
              <a:ln w="38144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00" name="Freeform: Shape 499"/>
              <p:cNvSpPr/>
              <p:nvPr/>
            </p:nvSpPr>
            <p:spPr>
              <a:xfrm>
                <a:off x="165649" y="19079"/>
                <a:ext cx="19644" cy="19264"/>
              </a:xfrm>
              <a:prstGeom prst="ellipse">
                <a:avLst/>
              </a:prstGeom>
              <a:solidFill>
                <a:srgbClr val="FFFFFF"/>
              </a:solidFill>
              <a:ln w="38144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01" name="Freeform: Shape 500"/>
              <p:cNvSpPr/>
              <p:nvPr/>
            </p:nvSpPr>
            <p:spPr>
              <a:xfrm>
                <a:off x="14689" y="110260"/>
                <a:ext cx="589592" cy="374213"/>
              </a:xfrm>
              <a:prstGeom prst="rect">
                <a:avLst/>
              </a:prstGeom>
              <a:solidFill>
                <a:srgbClr val="FFFFFF"/>
              </a:solidFill>
              <a:ln w="24018" cap="sq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02" name="Freeform: Shape 501"/>
              <p:cNvSpPr/>
              <p:nvPr/>
            </p:nvSpPr>
            <p:spPr>
              <a:xfrm>
                <a:off x="106604" y="190831"/>
                <a:ext cx="267452" cy="281"/>
              </a:xfrm>
              <a:prstGeom prst="line">
                <a:avLst/>
              </a:prstGeom>
              <a:noFill/>
              <a:ln w="66451" cap="sq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3" name="Freeform: Shape 502"/>
              <p:cNvSpPr/>
              <p:nvPr/>
            </p:nvSpPr>
            <p:spPr>
              <a:xfrm>
                <a:off x="106604" y="298210"/>
                <a:ext cx="267452" cy="281"/>
              </a:xfrm>
              <a:prstGeom prst="line">
                <a:avLst/>
              </a:prstGeom>
              <a:noFill/>
              <a:ln w="66451" cap="sq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4" name="Freeform: Shape 503"/>
              <p:cNvSpPr/>
              <p:nvPr/>
            </p:nvSpPr>
            <p:spPr>
              <a:xfrm>
                <a:off x="108698" y="405590"/>
                <a:ext cx="267445" cy="281"/>
              </a:xfrm>
              <a:prstGeom prst="line">
                <a:avLst/>
              </a:prstGeom>
              <a:noFill/>
              <a:ln w="66451" cap="sq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5" name="Freeform: Shape 504"/>
              <p:cNvSpPr/>
              <p:nvPr/>
            </p:nvSpPr>
            <p:spPr>
              <a:xfrm>
                <a:off x="277711" y="139906"/>
                <a:ext cx="289309" cy="3123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11" h="21507" fill="norm" stroke="1" extrusionOk="0">
                    <a:moveTo>
                      <a:pt x="12801" y="1"/>
                    </a:moveTo>
                    <a:cubicBezTo>
                      <a:pt x="11706" y="59"/>
                      <a:pt x="10810" y="774"/>
                      <a:pt x="10197" y="1557"/>
                    </a:cubicBezTo>
                    <a:cubicBezTo>
                      <a:pt x="7083" y="4997"/>
                      <a:pt x="3949" y="8423"/>
                      <a:pt x="856" y="11878"/>
                    </a:cubicBezTo>
                    <a:cubicBezTo>
                      <a:pt x="115" y="12906"/>
                      <a:pt x="304" y="14183"/>
                      <a:pt x="181" y="15347"/>
                    </a:cubicBezTo>
                    <a:cubicBezTo>
                      <a:pt x="125" y="16575"/>
                      <a:pt x="-11" y="17803"/>
                      <a:pt x="1" y="19031"/>
                    </a:cubicBezTo>
                    <a:cubicBezTo>
                      <a:pt x="153" y="19950"/>
                      <a:pt x="670" y="20951"/>
                      <a:pt x="1707" y="21250"/>
                    </a:cubicBezTo>
                    <a:cubicBezTo>
                      <a:pt x="2479" y="21583"/>
                      <a:pt x="3378" y="21579"/>
                      <a:pt x="4172" y="21315"/>
                    </a:cubicBezTo>
                    <a:cubicBezTo>
                      <a:pt x="6040" y="20879"/>
                      <a:pt x="7939" y="20543"/>
                      <a:pt x="9779" y="20016"/>
                    </a:cubicBezTo>
                    <a:cubicBezTo>
                      <a:pt x="10938" y="19504"/>
                      <a:pt x="11573" y="18425"/>
                      <a:pt x="12417" y="17589"/>
                    </a:cubicBezTo>
                    <a:cubicBezTo>
                      <a:pt x="15185" y="14531"/>
                      <a:pt x="17966" y="11483"/>
                      <a:pt x="20727" y="8420"/>
                    </a:cubicBezTo>
                    <a:cubicBezTo>
                      <a:pt x="21311" y="7557"/>
                      <a:pt x="21589" y="6368"/>
                      <a:pt x="20924" y="5473"/>
                    </a:cubicBezTo>
                    <a:cubicBezTo>
                      <a:pt x="20362" y="4585"/>
                      <a:pt x="19344" y="4080"/>
                      <a:pt x="18545" y="3398"/>
                    </a:cubicBezTo>
                    <a:cubicBezTo>
                      <a:pt x="17245" y="2425"/>
                      <a:pt x="15982" y="1405"/>
                      <a:pt x="14650" y="471"/>
                    </a:cubicBezTo>
                    <a:cubicBezTo>
                      <a:pt x="14085" y="196"/>
                      <a:pt x="13451" y="-17"/>
                      <a:pt x="12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451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06" name="Freeform: Shape 505"/>
              <p:cNvSpPr/>
              <p:nvPr/>
            </p:nvSpPr>
            <p:spPr>
              <a:xfrm>
                <a:off x="316173" y="177410"/>
                <a:ext cx="212684" cy="2372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005" y="0"/>
                    </a:moveTo>
                    <a:lnTo>
                      <a:pt x="21600" y="5549"/>
                    </a:lnTo>
                    <a:lnTo>
                      <a:pt x="8032" y="19896"/>
                    </a:lnTo>
                    <a:lnTo>
                      <a:pt x="0" y="21600"/>
                    </a:lnTo>
                    <a:lnTo>
                      <a:pt x="459" y="14324"/>
                    </a:lnTo>
                    <a:close/>
                  </a:path>
                </a:pathLst>
              </a:custGeom>
              <a:noFill/>
              <a:ln w="66451" cap="rnd">
                <a:solidFill>
                  <a:srgbClr val="72727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</p:grpSp>
        <p:grpSp>
          <p:nvGrpSpPr>
            <p:cNvPr id="210" name="Rectangle 22"/>
            <p:cNvGrpSpPr/>
            <p:nvPr/>
          </p:nvGrpSpPr>
          <p:grpSpPr>
            <a:xfrm>
              <a:off x="233312" y="1052000"/>
              <a:ext cx="267459" cy="497841"/>
              <a:chOff x="0" y="-19050"/>
              <a:chExt cx="267457" cy="497840"/>
            </a:xfrm>
          </p:grpSpPr>
          <p:sp>
            <p:nvSpPr>
              <p:cNvPr id="208" name="Rectangle"/>
              <p:cNvSpPr/>
              <p:nvPr/>
            </p:nvSpPr>
            <p:spPr>
              <a:xfrm>
                <a:off x="0" y="84038"/>
                <a:ext cx="267458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09" name="F"/>
              <p:cNvSpPr txBox="1"/>
              <p:nvPr/>
            </p:nvSpPr>
            <p:spPr>
              <a:xfrm>
                <a:off x="45719" y="-19051"/>
                <a:ext cx="176019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213" name="Rectangle 24"/>
            <p:cNvGrpSpPr/>
            <p:nvPr/>
          </p:nvGrpSpPr>
          <p:grpSpPr>
            <a:xfrm>
              <a:off x="0" y="-19051"/>
              <a:ext cx="267458" cy="497842"/>
              <a:chOff x="0" y="-19050"/>
              <a:chExt cx="267457" cy="497840"/>
            </a:xfrm>
          </p:grpSpPr>
          <p:sp>
            <p:nvSpPr>
              <p:cNvPr id="211" name="Rectangle"/>
              <p:cNvSpPr/>
              <p:nvPr/>
            </p:nvSpPr>
            <p:spPr>
              <a:xfrm>
                <a:off x="0" y="84038"/>
                <a:ext cx="267458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12" name="G"/>
              <p:cNvSpPr txBox="1"/>
              <p:nvPr/>
            </p:nvSpPr>
            <p:spPr>
              <a:xfrm>
                <a:off x="45719" y="-19051"/>
                <a:ext cx="176019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</p:grpSp>
      <p:grpSp>
        <p:nvGrpSpPr>
          <p:cNvPr id="218" name="Group 61"/>
          <p:cNvGrpSpPr/>
          <p:nvPr/>
        </p:nvGrpSpPr>
        <p:grpSpPr>
          <a:xfrm>
            <a:off x="5925432" y="2697919"/>
            <a:ext cx="1169865" cy="1689128"/>
            <a:chOff x="0" y="0"/>
            <a:chExt cx="1169863" cy="1689127"/>
          </a:xfrm>
        </p:grpSpPr>
        <p:sp>
          <p:nvSpPr>
            <p:cNvPr id="215" name="Freeform: Shape 405"/>
            <p:cNvSpPr/>
            <p:nvPr/>
          </p:nvSpPr>
          <p:spPr>
            <a:xfrm flipH="1">
              <a:off x="141666" y="0"/>
              <a:ext cx="803341" cy="408950"/>
            </a:xfrm>
            <a:prstGeom prst="line">
              <a:avLst/>
            </a:prstGeom>
            <a:noFill/>
            <a:ln w="74961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6" name="Freeform: Shape 403"/>
            <p:cNvSpPr/>
            <p:nvPr/>
          </p:nvSpPr>
          <p:spPr>
            <a:xfrm flipH="1" flipV="1">
              <a:off x="-1" y="1327944"/>
              <a:ext cx="402977" cy="361184"/>
            </a:xfrm>
            <a:prstGeom prst="line">
              <a:avLst/>
            </a:prstGeom>
            <a:noFill/>
            <a:ln w="74961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7" name="Freeform: Shape 404"/>
            <p:cNvSpPr/>
            <p:nvPr/>
          </p:nvSpPr>
          <p:spPr>
            <a:xfrm flipH="1" flipV="1">
              <a:off x="306750" y="847513"/>
              <a:ext cx="863114" cy="83618"/>
            </a:xfrm>
            <a:prstGeom prst="line">
              <a:avLst/>
            </a:prstGeom>
            <a:noFill/>
            <a:ln w="74961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84" name="Group 30"/>
          <p:cNvGrpSpPr/>
          <p:nvPr/>
        </p:nvGrpSpPr>
        <p:grpSpPr>
          <a:xfrm>
            <a:off x="6339513" y="2308608"/>
            <a:ext cx="2349483" cy="2498726"/>
            <a:chOff x="0" y="-19050"/>
            <a:chExt cx="2349481" cy="2498725"/>
          </a:xfrm>
        </p:grpSpPr>
        <p:sp>
          <p:nvSpPr>
            <p:cNvPr id="219" name="Freeform: Shape 420"/>
            <p:cNvSpPr/>
            <p:nvPr/>
          </p:nvSpPr>
          <p:spPr>
            <a:xfrm>
              <a:off x="693487" y="2159224"/>
              <a:ext cx="493992" cy="2230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400"/>
                  </a:moveTo>
                  <a:lnTo>
                    <a:pt x="16626" y="5400"/>
                  </a:lnTo>
                  <a:lnTo>
                    <a:pt x="16626" y="0"/>
                  </a:lnTo>
                  <a:lnTo>
                    <a:pt x="21600" y="10800"/>
                  </a:lnTo>
                  <a:lnTo>
                    <a:pt x="16626" y="21600"/>
                  </a:lnTo>
                  <a:lnTo>
                    <a:pt x="16626" y="16200"/>
                  </a:lnTo>
                  <a:lnTo>
                    <a:pt x="0" y="16200"/>
                  </a:lnTo>
                  <a:close/>
                </a:path>
              </a:pathLst>
            </a:custGeom>
            <a:solidFill>
              <a:srgbClr val="B6B5B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20" name="Freeform: Shape 421"/>
            <p:cNvSpPr/>
            <p:nvPr/>
          </p:nvSpPr>
          <p:spPr>
            <a:xfrm>
              <a:off x="1442165" y="1319412"/>
              <a:ext cx="493992" cy="2230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5400"/>
                  </a:moveTo>
                  <a:lnTo>
                    <a:pt x="4974" y="5400"/>
                  </a:lnTo>
                  <a:lnTo>
                    <a:pt x="4974" y="0"/>
                  </a:lnTo>
                  <a:lnTo>
                    <a:pt x="0" y="10800"/>
                  </a:lnTo>
                  <a:lnTo>
                    <a:pt x="4974" y="21600"/>
                  </a:lnTo>
                  <a:lnTo>
                    <a:pt x="4974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B6B5B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21" name="TextBox 438"/>
            <p:cNvSpPr txBox="1"/>
            <p:nvPr/>
          </p:nvSpPr>
          <p:spPr>
            <a:xfrm>
              <a:off x="169854" y="660130"/>
              <a:ext cx="280925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400">
                  <a:solidFill>
                    <a:srgbClr val="FFFFFF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22" name="TextBox 439"/>
            <p:cNvSpPr txBox="1"/>
            <p:nvPr/>
          </p:nvSpPr>
          <p:spPr>
            <a:xfrm>
              <a:off x="190485" y="1354709"/>
              <a:ext cx="280925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400">
                  <a:solidFill>
                    <a:srgbClr val="FFFFFF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lvl1pPr>
            </a:lstStyle>
            <a:p>
              <a:pPr/>
              <a:r>
                <a:t>2</a:t>
              </a:r>
            </a:p>
          </p:txBody>
        </p:sp>
        <p:grpSp>
          <p:nvGrpSpPr>
            <p:cNvPr id="234" name="Graphic 4"/>
            <p:cNvGrpSpPr/>
            <p:nvPr/>
          </p:nvGrpSpPr>
          <p:grpSpPr>
            <a:xfrm>
              <a:off x="0" y="1908055"/>
              <a:ext cx="583066" cy="571621"/>
              <a:chOff x="0" y="0"/>
              <a:chExt cx="583065" cy="571619"/>
            </a:xfrm>
          </p:grpSpPr>
          <p:sp>
            <p:nvSpPr>
              <p:cNvPr id="223" name="Freeform: Shape 485"/>
              <p:cNvSpPr/>
              <p:nvPr/>
            </p:nvSpPr>
            <p:spPr>
              <a:xfrm>
                <a:off x="0" y="0"/>
                <a:ext cx="583066" cy="571620"/>
              </a:xfrm>
              <a:prstGeom prst="rect">
                <a:avLst/>
              </a:prstGeom>
              <a:solidFill>
                <a:srgbClr val="FFFFFF"/>
              </a:solidFill>
              <a:ln w="66637" cap="rnd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24" name="Freeform: Shape 486"/>
              <p:cNvSpPr/>
              <p:nvPr/>
            </p:nvSpPr>
            <p:spPr>
              <a:xfrm>
                <a:off x="130887" y="128319"/>
                <a:ext cx="321291" cy="314983"/>
              </a:xfrm>
              <a:prstGeom prst="ellipse">
                <a:avLst/>
              </a:prstGeom>
              <a:noFill/>
              <a:ln w="69046" cap="rnd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25" name="Freeform: Shape 487"/>
              <p:cNvSpPr/>
              <p:nvPr/>
            </p:nvSpPr>
            <p:spPr>
              <a:xfrm>
                <a:off x="221334" y="218314"/>
                <a:ext cx="140399" cy="137642"/>
              </a:xfrm>
              <a:prstGeom prst="ellipse">
                <a:avLst/>
              </a:pr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26" name="Freeform: Shape 488"/>
              <p:cNvSpPr/>
              <p:nvPr/>
            </p:nvSpPr>
            <p:spPr>
              <a:xfrm>
                <a:off x="169360" y="44567"/>
                <a:ext cx="103947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4202"/>
                    </a:moveTo>
                    <a:lnTo>
                      <a:pt x="10145" y="0"/>
                    </a:lnTo>
                    <a:lnTo>
                      <a:pt x="21600" y="13146"/>
                    </a:lnTo>
                    <a:lnTo>
                      <a:pt x="1194" y="2160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27" name="Freeform: Shape 489"/>
              <p:cNvSpPr/>
              <p:nvPr/>
            </p:nvSpPr>
            <p:spPr>
              <a:xfrm>
                <a:off x="311922" y="44567"/>
                <a:ext cx="103954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454" y="0"/>
                    </a:moveTo>
                    <a:lnTo>
                      <a:pt x="21600" y="4202"/>
                    </a:lnTo>
                    <a:lnTo>
                      <a:pt x="20405" y="21600"/>
                    </a:lnTo>
                    <a:lnTo>
                      <a:pt x="0" y="13146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28" name="Freeform: Shape 490"/>
              <p:cNvSpPr/>
              <p:nvPr/>
            </p:nvSpPr>
            <p:spPr>
              <a:xfrm>
                <a:off x="311922" y="427809"/>
                <a:ext cx="103954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7396"/>
                    </a:moveTo>
                    <a:lnTo>
                      <a:pt x="11454" y="21600"/>
                    </a:lnTo>
                    <a:lnTo>
                      <a:pt x="0" y="8454"/>
                    </a:lnTo>
                    <a:lnTo>
                      <a:pt x="20405" y="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29" name="Freeform: Shape 491"/>
              <p:cNvSpPr/>
              <p:nvPr/>
            </p:nvSpPr>
            <p:spPr>
              <a:xfrm>
                <a:off x="169360" y="427809"/>
                <a:ext cx="103947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145" y="21600"/>
                    </a:moveTo>
                    <a:lnTo>
                      <a:pt x="0" y="17396"/>
                    </a:lnTo>
                    <a:lnTo>
                      <a:pt x="1194" y="0"/>
                    </a:lnTo>
                    <a:lnTo>
                      <a:pt x="21600" y="8454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0" name="Freeform: Shape 492"/>
              <p:cNvSpPr/>
              <p:nvPr/>
            </p:nvSpPr>
            <p:spPr>
              <a:xfrm>
                <a:off x="433698" y="167361"/>
                <a:ext cx="103934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96" y="0"/>
                    </a:moveTo>
                    <a:lnTo>
                      <a:pt x="21600" y="10145"/>
                    </a:lnTo>
                    <a:lnTo>
                      <a:pt x="8454" y="21600"/>
                    </a:lnTo>
                    <a:lnTo>
                      <a:pt x="0" y="1194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1" name="Freeform: Shape 493"/>
              <p:cNvSpPr/>
              <p:nvPr/>
            </p:nvSpPr>
            <p:spPr>
              <a:xfrm>
                <a:off x="433698" y="305003"/>
                <a:ext cx="103934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1455"/>
                    </a:moveTo>
                    <a:lnTo>
                      <a:pt x="17396" y="21600"/>
                    </a:lnTo>
                    <a:lnTo>
                      <a:pt x="0" y="20406"/>
                    </a:lnTo>
                    <a:lnTo>
                      <a:pt x="8454" y="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2" name="Freeform: Shape 494"/>
              <p:cNvSpPr/>
              <p:nvPr/>
            </p:nvSpPr>
            <p:spPr>
              <a:xfrm>
                <a:off x="45226" y="305003"/>
                <a:ext cx="103927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203" y="21600"/>
                    </a:moveTo>
                    <a:lnTo>
                      <a:pt x="0" y="11455"/>
                    </a:lnTo>
                    <a:lnTo>
                      <a:pt x="13146" y="0"/>
                    </a:lnTo>
                    <a:lnTo>
                      <a:pt x="21600" y="20406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3" name="Freeform: Shape 495"/>
              <p:cNvSpPr/>
              <p:nvPr/>
            </p:nvSpPr>
            <p:spPr>
              <a:xfrm>
                <a:off x="45226" y="167361"/>
                <a:ext cx="103927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145"/>
                    </a:moveTo>
                    <a:lnTo>
                      <a:pt x="4203" y="0"/>
                    </a:lnTo>
                    <a:lnTo>
                      <a:pt x="21600" y="1194"/>
                    </a:lnTo>
                    <a:lnTo>
                      <a:pt x="13146" y="2160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</p:grpSp>
        <p:grpSp>
          <p:nvGrpSpPr>
            <p:cNvPr id="246" name="Graphic 4"/>
            <p:cNvGrpSpPr/>
            <p:nvPr/>
          </p:nvGrpSpPr>
          <p:grpSpPr>
            <a:xfrm>
              <a:off x="760487" y="1060543"/>
              <a:ext cx="583067" cy="571620"/>
              <a:chOff x="0" y="0"/>
              <a:chExt cx="583065" cy="571619"/>
            </a:xfrm>
          </p:grpSpPr>
          <p:sp>
            <p:nvSpPr>
              <p:cNvPr id="235" name="Freeform: Shape 474"/>
              <p:cNvSpPr/>
              <p:nvPr/>
            </p:nvSpPr>
            <p:spPr>
              <a:xfrm>
                <a:off x="0" y="0"/>
                <a:ext cx="583066" cy="571620"/>
              </a:xfrm>
              <a:prstGeom prst="rect">
                <a:avLst/>
              </a:prstGeom>
              <a:solidFill>
                <a:srgbClr val="FFFFFF"/>
              </a:solidFill>
              <a:ln w="66637" cap="rnd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6" name="Freeform: Shape 475"/>
              <p:cNvSpPr/>
              <p:nvPr/>
            </p:nvSpPr>
            <p:spPr>
              <a:xfrm>
                <a:off x="130887" y="128319"/>
                <a:ext cx="321291" cy="314983"/>
              </a:xfrm>
              <a:prstGeom prst="ellipse">
                <a:avLst/>
              </a:prstGeom>
              <a:noFill/>
              <a:ln w="69046" cap="rnd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7" name="Freeform: Shape 476"/>
              <p:cNvSpPr/>
              <p:nvPr/>
            </p:nvSpPr>
            <p:spPr>
              <a:xfrm>
                <a:off x="221333" y="218314"/>
                <a:ext cx="140399" cy="137642"/>
              </a:xfrm>
              <a:prstGeom prst="ellipse">
                <a:avLst/>
              </a:pr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8" name="Freeform: Shape 477"/>
              <p:cNvSpPr/>
              <p:nvPr/>
            </p:nvSpPr>
            <p:spPr>
              <a:xfrm>
                <a:off x="169360" y="44567"/>
                <a:ext cx="103947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4202"/>
                    </a:moveTo>
                    <a:lnTo>
                      <a:pt x="10145" y="0"/>
                    </a:lnTo>
                    <a:lnTo>
                      <a:pt x="21600" y="13146"/>
                    </a:lnTo>
                    <a:lnTo>
                      <a:pt x="1194" y="2160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39" name="Freeform: Shape 478"/>
              <p:cNvSpPr/>
              <p:nvPr/>
            </p:nvSpPr>
            <p:spPr>
              <a:xfrm>
                <a:off x="311922" y="44567"/>
                <a:ext cx="103954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454" y="0"/>
                    </a:moveTo>
                    <a:lnTo>
                      <a:pt x="21600" y="4202"/>
                    </a:lnTo>
                    <a:lnTo>
                      <a:pt x="20405" y="21600"/>
                    </a:lnTo>
                    <a:lnTo>
                      <a:pt x="0" y="13146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0" name="Freeform: Shape 479"/>
              <p:cNvSpPr/>
              <p:nvPr/>
            </p:nvSpPr>
            <p:spPr>
              <a:xfrm>
                <a:off x="311922" y="427809"/>
                <a:ext cx="103954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7396"/>
                    </a:moveTo>
                    <a:lnTo>
                      <a:pt x="11454" y="21600"/>
                    </a:lnTo>
                    <a:lnTo>
                      <a:pt x="0" y="8454"/>
                    </a:lnTo>
                    <a:lnTo>
                      <a:pt x="20405" y="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1" name="Freeform: Shape 480"/>
              <p:cNvSpPr/>
              <p:nvPr/>
            </p:nvSpPr>
            <p:spPr>
              <a:xfrm>
                <a:off x="169360" y="427809"/>
                <a:ext cx="103947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145" y="21600"/>
                    </a:moveTo>
                    <a:lnTo>
                      <a:pt x="0" y="17396"/>
                    </a:lnTo>
                    <a:lnTo>
                      <a:pt x="1194" y="0"/>
                    </a:lnTo>
                    <a:lnTo>
                      <a:pt x="21600" y="8454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2" name="Freeform: Shape 481"/>
              <p:cNvSpPr/>
              <p:nvPr/>
            </p:nvSpPr>
            <p:spPr>
              <a:xfrm>
                <a:off x="433697" y="167361"/>
                <a:ext cx="103934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96" y="0"/>
                    </a:moveTo>
                    <a:lnTo>
                      <a:pt x="21600" y="10145"/>
                    </a:lnTo>
                    <a:lnTo>
                      <a:pt x="8454" y="21600"/>
                    </a:lnTo>
                    <a:lnTo>
                      <a:pt x="0" y="1194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3" name="Freeform: Shape 482"/>
              <p:cNvSpPr/>
              <p:nvPr/>
            </p:nvSpPr>
            <p:spPr>
              <a:xfrm>
                <a:off x="433697" y="305003"/>
                <a:ext cx="103934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1455"/>
                    </a:moveTo>
                    <a:lnTo>
                      <a:pt x="17396" y="21600"/>
                    </a:lnTo>
                    <a:lnTo>
                      <a:pt x="0" y="20406"/>
                    </a:lnTo>
                    <a:lnTo>
                      <a:pt x="8454" y="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4" name="Freeform: Shape 483"/>
              <p:cNvSpPr/>
              <p:nvPr/>
            </p:nvSpPr>
            <p:spPr>
              <a:xfrm>
                <a:off x="45226" y="305003"/>
                <a:ext cx="103927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203" y="21600"/>
                    </a:moveTo>
                    <a:lnTo>
                      <a:pt x="0" y="11455"/>
                    </a:lnTo>
                    <a:lnTo>
                      <a:pt x="13146" y="0"/>
                    </a:lnTo>
                    <a:lnTo>
                      <a:pt x="21600" y="20406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5" name="Freeform: Shape 484"/>
              <p:cNvSpPr/>
              <p:nvPr/>
            </p:nvSpPr>
            <p:spPr>
              <a:xfrm>
                <a:off x="45226" y="167361"/>
                <a:ext cx="103927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145"/>
                    </a:moveTo>
                    <a:lnTo>
                      <a:pt x="4203" y="0"/>
                    </a:lnTo>
                    <a:lnTo>
                      <a:pt x="21600" y="1194"/>
                    </a:lnTo>
                    <a:lnTo>
                      <a:pt x="13146" y="2160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</p:grpSp>
        <p:grpSp>
          <p:nvGrpSpPr>
            <p:cNvPr id="258" name="Graphic 4"/>
            <p:cNvGrpSpPr/>
            <p:nvPr/>
          </p:nvGrpSpPr>
          <p:grpSpPr>
            <a:xfrm>
              <a:off x="532991" y="123817"/>
              <a:ext cx="583066" cy="571620"/>
              <a:chOff x="0" y="0"/>
              <a:chExt cx="583065" cy="571619"/>
            </a:xfrm>
          </p:grpSpPr>
          <p:sp>
            <p:nvSpPr>
              <p:cNvPr id="247" name="Freeform: Shape 463"/>
              <p:cNvSpPr/>
              <p:nvPr/>
            </p:nvSpPr>
            <p:spPr>
              <a:xfrm>
                <a:off x="0" y="0"/>
                <a:ext cx="583066" cy="571620"/>
              </a:xfrm>
              <a:prstGeom prst="rect">
                <a:avLst/>
              </a:prstGeom>
              <a:solidFill>
                <a:srgbClr val="FFFFFF"/>
              </a:solidFill>
              <a:ln w="66637" cap="rnd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8" name="Freeform: Shape 464"/>
              <p:cNvSpPr/>
              <p:nvPr/>
            </p:nvSpPr>
            <p:spPr>
              <a:xfrm>
                <a:off x="130887" y="128319"/>
                <a:ext cx="321291" cy="314983"/>
              </a:xfrm>
              <a:prstGeom prst="ellipse">
                <a:avLst/>
              </a:prstGeom>
              <a:noFill/>
              <a:ln w="69046" cap="rnd">
                <a:solidFill>
                  <a:srgbClr val="72727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49" name="Freeform: Shape 465"/>
              <p:cNvSpPr/>
              <p:nvPr/>
            </p:nvSpPr>
            <p:spPr>
              <a:xfrm>
                <a:off x="221333" y="218314"/>
                <a:ext cx="140399" cy="137643"/>
              </a:xfrm>
              <a:prstGeom prst="ellipse">
                <a:avLst/>
              </a:pr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0" name="Freeform: Shape 466"/>
              <p:cNvSpPr/>
              <p:nvPr/>
            </p:nvSpPr>
            <p:spPr>
              <a:xfrm>
                <a:off x="169360" y="44567"/>
                <a:ext cx="103947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4202"/>
                    </a:moveTo>
                    <a:lnTo>
                      <a:pt x="10145" y="0"/>
                    </a:lnTo>
                    <a:lnTo>
                      <a:pt x="21600" y="13146"/>
                    </a:lnTo>
                    <a:lnTo>
                      <a:pt x="1194" y="2160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1" name="Freeform: Shape 467"/>
              <p:cNvSpPr/>
              <p:nvPr/>
            </p:nvSpPr>
            <p:spPr>
              <a:xfrm>
                <a:off x="311922" y="44567"/>
                <a:ext cx="103954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454" y="0"/>
                    </a:moveTo>
                    <a:lnTo>
                      <a:pt x="21600" y="4202"/>
                    </a:lnTo>
                    <a:lnTo>
                      <a:pt x="20405" y="21600"/>
                    </a:lnTo>
                    <a:lnTo>
                      <a:pt x="0" y="13146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2" name="Freeform: Shape 468"/>
              <p:cNvSpPr/>
              <p:nvPr/>
            </p:nvSpPr>
            <p:spPr>
              <a:xfrm>
                <a:off x="311922" y="427809"/>
                <a:ext cx="103954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7396"/>
                    </a:moveTo>
                    <a:lnTo>
                      <a:pt x="11454" y="21600"/>
                    </a:lnTo>
                    <a:lnTo>
                      <a:pt x="0" y="8454"/>
                    </a:lnTo>
                    <a:lnTo>
                      <a:pt x="20405" y="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3" name="Freeform: Shape 469"/>
              <p:cNvSpPr/>
              <p:nvPr/>
            </p:nvSpPr>
            <p:spPr>
              <a:xfrm>
                <a:off x="169360" y="427809"/>
                <a:ext cx="103947" cy="101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145" y="21600"/>
                    </a:moveTo>
                    <a:lnTo>
                      <a:pt x="0" y="17396"/>
                    </a:lnTo>
                    <a:lnTo>
                      <a:pt x="1194" y="0"/>
                    </a:lnTo>
                    <a:lnTo>
                      <a:pt x="21600" y="8454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4" name="Freeform: Shape 470"/>
              <p:cNvSpPr/>
              <p:nvPr/>
            </p:nvSpPr>
            <p:spPr>
              <a:xfrm>
                <a:off x="433698" y="167361"/>
                <a:ext cx="103934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96" y="0"/>
                    </a:moveTo>
                    <a:lnTo>
                      <a:pt x="21600" y="10145"/>
                    </a:lnTo>
                    <a:lnTo>
                      <a:pt x="8454" y="21600"/>
                    </a:lnTo>
                    <a:lnTo>
                      <a:pt x="0" y="1194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5" name="Freeform: Shape 471"/>
              <p:cNvSpPr/>
              <p:nvPr/>
            </p:nvSpPr>
            <p:spPr>
              <a:xfrm>
                <a:off x="433698" y="305003"/>
                <a:ext cx="103934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1455"/>
                    </a:moveTo>
                    <a:lnTo>
                      <a:pt x="17396" y="21600"/>
                    </a:lnTo>
                    <a:lnTo>
                      <a:pt x="0" y="20406"/>
                    </a:lnTo>
                    <a:lnTo>
                      <a:pt x="8454" y="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6" name="Freeform: Shape 472"/>
              <p:cNvSpPr/>
              <p:nvPr/>
            </p:nvSpPr>
            <p:spPr>
              <a:xfrm>
                <a:off x="45226" y="305003"/>
                <a:ext cx="103927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203" y="21600"/>
                    </a:moveTo>
                    <a:lnTo>
                      <a:pt x="0" y="11455"/>
                    </a:lnTo>
                    <a:lnTo>
                      <a:pt x="13146" y="0"/>
                    </a:lnTo>
                    <a:lnTo>
                      <a:pt x="21600" y="20406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57" name="Freeform: Shape 473"/>
              <p:cNvSpPr/>
              <p:nvPr/>
            </p:nvSpPr>
            <p:spPr>
              <a:xfrm>
                <a:off x="45226" y="167361"/>
                <a:ext cx="103927" cy="101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145"/>
                    </a:moveTo>
                    <a:lnTo>
                      <a:pt x="4203" y="0"/>
                    </a:lnTo>
                    <a:lnTo>
                      <a:pt x="21600" y="1194"/>
                    </a:lnTo>
                    <a:lnTo>
                      <a:pt x="13146" y="21600"/>
                    </a:lnTo>
                    <a:close/>
                  </a:path>
                </a:pathLst>
              </a:custGeom>
              <a:solidFill>
                <a:srgbClr val="72727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</p:grpSp>
        <p:grpSp>
          <p:nvGrpSpPr>
            <p:cNvPr id="266" name="Graphic 4"/>
            <p:cNvGrpSpPr/>
            <p:nvPr/>
          </p:nvGrpSpPr>
          <p:grpSpPr>
            <a:xfrm>
              <a:off x="2012117" y="1209280"/>
              <a:ext cx="337365" cy="404915"/>
              <a:chOff x="0" y="0"/>
              <a:chExt cx="337364" cy="404913"/>
            </a:xfrm>
          </p:grpSpPr>
          <p:sp>
            <p:nvSpPr>
              <p:cNvPr id="259" name="Freeform: Shape 456"/>
              <p:cNvSpPr/>
              <p:nvPr/>
            </p:nvSpPr>
            <p:spPr>
              <a:xfrm>
                <a:off x="39109" y="35678"/>
                <a:ext cx="298256" cy="3692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861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5352"/>
                    </a:lnTo>
                    <a:close/>
                  </a:path>
                </a:pathLst>
              </a:custGeom>
              <a:solidFill>
                <a:srgbClr val="FFFFFF"/>
              </a:solidFill>
              <a:ln w="20882" cap="flat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60" name="Freeform: Shape 457"/>
              <p:cNvSpPr/>
              <p:nvPr/>
            </p:nvSpPr>
            <p:spPr>
              <a:xfrm>
                <a:off x="4" y="3"/>
                <a:ext cx="298236" cy="3692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865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5352"/>
                    </a:lnTo>
                    <a:close/>
                  </a:path>
                </a:pathLst>
              </a:custGeom>
              <a:solidFill>
                <a:srgbClr val="FFFFFF"/>
              </a:solidFill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61" name="Freeform: Shape 458"/>
              <p:cNvSpPr/>
              <p:nvPr/>
            </p:nvSpPr>
            <p:spPr>
              <a:xfrm>
                <a:off x="0" y="0"/>
                <a:ext cx="94789" cy="914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</a:path>
                </a:pathLst>
              </a:custGeom>
              <a:noFill/>
              <a:ln w="20882" cap="flat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62" name="Freeform: Shape 459"/>
              <p:cNvSpPr/>
              <p:nvPr/>
            </p:nvSpPr>
            <p:spPr>
              <a:xfrm flipH="1" flipV="1">
                <a:off x="52148" y="315160"/>
                <a:ext cx="193893" cy="1"/>
              </a:xfrm>
              <a:prstGeom prst="line">
                <a:avLst/>
              </a:pr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63" name="Freeform: Shape 460"/>
              <p:cNvSpPr/>
              <p:nvPr/>
            </p:nvSpPr>
            <p:spPr>
              <a:xfrm flipH="1" flipV="1">
                <a:off x="52148" y="259702"/>
                <a:ext cx="193893" cy="1"/>
              </a:xfrm>
              <a:prstGeom prst="line">
                <a:avLst/>
              </a:pr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64" name="Freeform: Shape 461"/>
              <p:cNvSpPr/>
              <p:nvPr/>
            </p:nvSpPr>
            <p:spPr>
              <a:xfrm>
                <a:off x="52148" y="204244"/>
                <a:ext cx="19389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21600" y="0"/>
                    </a:moveTo>
                    <a:lnTo>
                      <a:pt x="17168" y="0"/>
                    </a:lnTo>
                    <a:moveTo>
                      <a:pt x="13302" y="0"/>
                    </a:moveTo>
                    <a:lnTo>
                      <a:pt x="0" y="0"/>
                    </a:lnTo>
                  </a:path>
                </a:pathLst>
              </a:cu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65" name="Freeform: Shape 462"/>
              <p:cNvSpPr/>
              <p:nvPr/>
            </p:nvSpPr>
            <p:spPr>
              <a:xfrm flipH="1" flipV="1">
                <a:off x="52148" y="148786"/>
                <a:ext cx="193893" cy="1"/>
              </a:xfrm>
              <a:prstGeom prst="line">
                <a:avLst/>
              </a:pr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274" name="Graphic 4"/>
            <p:cNvGrpSpPr/>
            <p:nvPr/>
          </p:nvGrpSpPr>
          <p:grpSpPr>
            <a:xfrm>
              <a:off x="1269786" y="2046696"/>
              <a:ext cx="337349" cy="404918"/>
              <a:chOff x="0" y="0"/>
              <a:chExt cx="337348" cy="404916"/>
            </a:xfrm>
          </p:grpSpPr>
          <p:sp>
            <p:nvSpPr>
              <p:cNvPr id="267" name="Freeform: Shape 449"/>
              <p:cNvSpPr/>
              <p:nvPr/>
            </p:nvSpPr>
            <p:spPr>
              <a:xfrm>
                <a:off x="39119" y="35679"/>
                <a:ext cx="298230" cy="369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863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5352"/>
                    </a:lnTo>
                    <a:close/>
                  </a:path>
                </a:pathLst>
              </a:custGeom>
              <a:solidFill>
                <a:srgbClr val="FFFFFF"/>
              </a:solidFill>
              <a:ln w="20882" cap="flat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68" name="Freeform: Shape 450"/>
              <p:cNvSpPr/>
              <p:nvPr/>
            </p:nvSpPr>
            <p:spPr>
              <a:xfrm>
                <a:off x="0" y="0"/>
                <a:ext cx="298223" cy="369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863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5352"/>
                    </a:lnTo>
                    <a:close/>
                  </a:path>
                </a:pathLst>
              </a:custGeom>
              <a:solidFill>
                <a:srgbClr val="FFFFFF"/>
              </a:solidFill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69" name="Freeform: Shape 451"/>
              <p:cNvSpPr/>
              <p:nvPr/>
            </p:nvSpPr>
            <p:spPr>
              <a:xfrm>
                <a:off x="9" y="1"/>
                <a:ext cx="94757" cy="91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</a:path>
                </a:pathLst>
              </a:custGeom>
              <a:noFill/>
              <a:ln w="20882" cap="flat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70" name="Freeform: Shape 452"/>
              <p:cNvSpPr/>
              <p:nvPr/>
            </p:nvSpPr>
            <p:spPr>
              <a:xfrm flipH="1" flipV="1">
                <a:off x="52159" y="315163"/>
                <a:ext cx="193919" cy="1"/>
              </a:xfrm>
              <a:prstGeom prst="line">
                <a:avLst/>
              </a:pr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71" name="Freeform: Shape 453"/>
              <p:cNvSpPr/>
              <p:nvPr/>
            </p:nvSpPr>
            <p:spPr>
              <a:xfrm flipH="1" flipV="1">
                <a:off x="52159" y="259704"/>
                <a:ext cx="193919" cy="1"/>
              </a:xfrm>
              <a:prstGeom prst="line">
                <a:avLst/>
              </a:pr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72" name="Freeform: Shape 454"/>
              <p:cNvSpPr/>
              <p:nvPr/>
            </p:nvSpPr>
            <p:spPr>
              <a:xfrm>
                <a:off x="52159" y="204246"/>
                <a:ext cx="193919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21600" y="0"/>
                    </a:moveTo>
                    <a:lnTo>
                      <a:pt x="17168" y="0"/>
                    </a:lnTo>
                    <a:moveTo>
                      <a:pt x="13301" y="0"/>
                    </a:moveTo>
                    <a:lnTo>
                      <a:pt x="0" y="0"/>
                    </a:lnTo>
                  </a:path>
                </a:pathLst>
              </a:cu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273" name="Freeform: Shape 455"/>
              <p:cNvSpPr/>
              <p:nvPr/>
            </p:nvSpPr>
            <p:spPr>
              <a:xfrm flipH="1" flipV="1">
                <a:off x="52159" y="148788"/>
                <a:ext cx="193919" cy="1"/>
              </a:xfrm>
              <a:prstGeom prst="line">
                <a:avLst/>
              </a:prstGeom>
              <a:noFill/>
              <a:ln w="20882" cap="rnd">
                <a:solidFill>
                  <a:srgbClr val="B5B5B5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277" name="Rectangle 16"/>
            <p:cNvGrpSpPr/>
            <p:nvPr/>
          </p:nvGrpSpPr>
          <p:grpSpPr>
            <a:xfrm>
              <a:off x="1174706" y="-19051"/>
              <a:ext cx="267459" cy="497842"/>
              <a:chOff x="0" y="-19050"/>
              <a:chExt cx="267457" cy="497840"/>
            </a:xfrm>
          </p:grpSpPr>
          <p:sp>
            <p:nvSpPr>
              <p:cNvPr id="275" name="Rectangle"/>
              <p:cNvSpPr/>
              <p:nvPr/>
            </p:nvSpPr>
            <p:spPr>
              <a:xfrm>
                <a:off x="0" y="84038"/>
                <a:ext cx="267458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76" name="C"/>
              <p:cNvSpPr txBox="1"/>
              <p:nvPr/>
            </p:nvSpPr>
            <p:spPr>
              <a:xfrm>
                <a:off x="45719" y="-19051"/>
                <a:ext cx="176019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80" name="Rectangle 18"/>
            <p:cNvGrpSpPr/>
            <p:nvPr/>
          </p:nvGrpSpPr>
          <p:grpSpPr>
            <a:xfrm>
              <a:off x="1406914" y="910369"/>
              <a:ext cx="267459" cy="497841"/>
              <a:chOff x="0" y="-19050"/>
              <a:chExt cx="267457" cy="497840"/>
            </a:xfrm>
          </p:grpSpPr>
          <p:sp>
            <p:nvSpPr>
              <p:cNvPr id="278" name="Rectangle"/>
              <p:cNvSpPr/>
              <p:nvPr/>
            </p:nvSpPr>
            <p:spPr>
              <a:xfrm>
                <a:off x="0" y="84038"/>
                <a:ext cx="267458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79" name="D"/>
              <p:cNvSpPr txBox="1"/>
              <p:nvPr/>
            </p:nvSpPr>
            <p:spPr>
              <a:xfrm>
                <a:off x="45719" y="-19051"/>
                <a:ext cx="176019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83" name="Rectangle 20"/>
            <p:cNvGrpSpPr/>
            <p:nvPr/>
          </p:nvGrpSpPr>
          <p:grpSpPr>
            <a:xfrm>
              <a:off x="646423" y="1766488"/>
              <a:ext cx="267459" cy="497841"/>
              <a:chOff x="0" y="-19050"/>
              <a:chExt cx="267457" cy="497840"/>
            </a:xfrm>
          </p:grpSpPr>
          <p:sp>
            <p:nvSpPr>
              <p:cNvPr id="281" name="Rectangle"/>
              <p:cNvSpPr/>
              <p:nvPr/>
            </p:nvSpPr>
            <p:spPr>
              <a:xfrm>
                <a:off x="0" y="84038"/>
                <a:ext cx="267458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82" name="E"/>
              <p:cNvSpPr txBox="1"/>
              <p:nvPr/>
            </p:nvSpPr>
            <p:spPr>
              <a:xfrm>
                <a:off x="45719" y="-19051"/>
                <a:ext cx="176019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  <p:grpSp>
        <p:nvGrpSpPr>
          <p:cNvPr id="292" name="Group 542"/>
          <p:cNvGrpSpPr/>
          <p:nvPr/>
        </p:nvGrpSpPr>
        <p:grpSpPr>
          <a:xfrm>
            <a:off x="4733223" y="2737306"/>
            <a:ext cx="1553473" cy="1522978"/>
            <a:chOff x="0" y="0"/>
            <a:chExt cx="1553472" cy="1522976"/>
          </a:xfrm>
        </p:grpSpPr>
        <p:sp>
          <p:nvSpPr>
            <p:cNvPr id="285" name="Freeform: Shape 408"/>
            <p:cNvSpPr/>
            <p:nvPr/>
          </p:nvSpPr>
          <p:spPr>
            <a:xfrm>
              <a:off x="-1" y="-1"/>
              <a:ext cx="1553474" cy="1522978"/>
            </a:xfrm>
            <a:prstGeom prst="ellipse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86" name="Freeform: Shape 411"/>
            <p:cNvSpPr/>
            <p:nvPr/>
          </p:nvSpPr>
          <p:spPr>
            <a:xfrm>
              <a:off x="581740" y="1188432"/>
              <a:ext cx="376994" cy="203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600"/>
                  </a:moveTo>
                  <a:cubicBezTo>
                    <a:pt x="0" y="1612"/>
                    <a:pt x="889" y="0"/>
                    <a:pt x="1986" y="0"/>
                  </a:cubicBezTo>
                  <a:lnTo>
                    <a:pt x="19614" y="0"/>
                  </a:lnTo>
                  <a:cubicBezTo>
                    <a:pt x="20711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0711" y="21600"/>
                    <a:pt x="19614" y="21600"/>
                  </a:cubicBezTo>
                  <a:lnTo>
                    <a:pt x="1986" y="21600"/>
                  </a:lnTo>
                  <a:cubicBezTo>
                    <a:pt x="889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21417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87" name="Freeform: Shape 412"/>
            <p:cNvSpPr/>
            <p:nvPr/>
          </p:nvSpPr>
          <p:spPr>
            <a:xfrm>
              <a:off x="932735" y="882562"/>
              <a:ext cx="376994" cy="203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600"/>
                  </a:moveTo>
                  <a:cubicBezTo>
                    <a:pt x="0" y="1612"/>
                    <a:pt x="889" y="0"/>
                    <a:pt x="1986" y="0"/>
                  </a:cubicBezTo>
                  <a:lnTo>
                    <a:pt x="19614" y="0"/>
                  </a:lnTo>
                  <a:cubicBezTo>
                    <a:pt x="20711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0711" y="21600"/>
                    <a:pt x="19614" y="21600"/>
                  </a:cubicBezTo>
                  <a:lnTo>
                    <a:pt x="1986" y="21600"/>
                  </a:lnTo>
                  <a:cubicBezTo>
                    <a:pt x="889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21417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88" name="Freeform: Shape 413"/>
            <p:cNvSpPr/>
            <p:nvPr/>
          </p:nvSpPr>
          <p:spPr>
            <a:xfrm>
              <a:off x="263245" y="920796"/>
              <a:ext cx="376994" cy="203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600"/>
                  </a:moveTo>
                  <a:cubicBezTo>
                    <a:pt x="0" y="1612"/>
                    <a:pt x="889" y="0"/>
                    <a:pt x="1986" y="0"/>
                  </a:cubicBezTo>
                  <a:lnTo>
                    <a:pt x="19614" y="0"/>
                  </a:lnTo>
                  <a:cubicBezTo>
                    <a:pt x="20711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0711" y="21600"/>
                    <a:pt x="19614" y="21600"/>
                  </a:cubicBezTo>
                  <a:lnTo>
                    <a:pt x="1986" y="21600"/>
                  </a:lnTo>
                  <a:cubicBezTo>
                    <a:pt x="889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21417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89" name="Freeform: Shape 414"/>
            <p:cNvSpPr/>
            <p:nvPr/>
          </p:nvSpPr>
          <p:spPr>
            <a:xfrm>
              <a:off x="250244" y="481107"/>
              <a:ext cx="376995" cy="203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600"/>
                  </a:moveTo>
                  <a:cubicBezTo>
                    <a:pt x="0" y="1612"/>
                    <a:pt x="889" y="0"/>
                    <a:pt x="1986" y="0"/>
                  </a:cubicBezTo>
                  <a:lnTo>
                    <a:pt x="19614" y="0"/>
                  </a:lnTo>
                  <a:cubicBezTo>
                    <a:pt x="20711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0711" y="21600"/>
                    <a:pt x="19614" y="21600"/>
                  </a:cubicBezTo>
                  <a:lnTo>
                    <a:pt x="1986" y="21600"/>
                  </a:lnTo>
                  <a:cubicBezTo>
                    <a:pt x="889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21417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90" name="Freeform: Shape 415"/>
            <p:cNvSpPr/>
            <p:nvPr/>
          </p:nvSpPr>
          <p:spPr>
            <a:xfrm>
              <a:off x="640239" y="156121"/>
              <a:ext cx="376995" cy="203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600"/>
                  </a:moveTo>
                  <a:cubicBezTo>
                    <a:pt x="0" y="1612"/>
                    <a:pt x="889" y="0"/>
                    <a:pt x="1986" y="0"/>
                  </a:cubicBezTo>
                  <a:lnTo>
                    <a:pt x="19614" y="0"/>
                  </a:lnTo>
                  <a:cubicBezTo>
                    <a:pt x="20711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0711" y="21600"/>
                    <a:pt x="19614" y="21600"/>
                  </a:cubicBezTo>
                  <a:lnTo>
                    <a:pt x="1986" y="21600"/>
                  </a:lnTo>
                  <a:cubicBezTo>
                    <a:pt x="889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21417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  <p:sp>
          <p:nvSpPr>
            <p:cNvPr id="291" name="Freeform: Shape 423"/>
            <p:cNvSpPr/>
            <p:nvPr/>
          </p:nvSpPr>
          <p:spPr>
            <a:xfrm>
              <a:off x="815736" y="512969"/>
              <a:ext cx="376994" cy="2102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600"/>
                  </a:moveTo>
                  <a:cubicBezTo>
                    <a:pt x="0" y="1612"/>
                    <a:pt x="917" y="0"/>
                    <a:pt x="2048" y="0"/>
                  </a:cubicBezTo>
                  <a:lnTo>
                    <a:pt x="19552" y="0"/>
                  </a:lnTo>
                  <a:cubicBezTo>
                    <a:pt x="20683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9"/>
                    <a:pt x="20683" y="21600"/>
                    <a:pt x="19552" y="21600"/>
                  </a:cubicBezTo>
                  <a:lnTo>
                    <a:pt x="2048" y="21600"/>
                  </a:lnTo>
                  <a:cubicBezTo>
                    <a:pt x="917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21417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Lato Regular"/>
                  <a:ea typeface="Lato Regular"/>
                  <a:cs typeface="Lato Regular"/>
                  <a:sym typeface="Lato Regular"/>
                </a:defRPr>
              </a:pPr>
            </a:p>
          </p:txBody>
        </p:sp>
      </p:grpSp>
      <p:sp>
        <p:nvSpPr>
          <p:cNvPr id="293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Reference Architecture</a:t>
            </a:r>
          </a:p>
        </p:txBody>
      </p:sp>
      <p:sp>
        <p:nvSpPr>
          <p:cNvPr id="294" name="Text Placeholder 2"/>
          <p:cNvSpPr txBox="1"/>
          <p:nvPr>
            <p:ph type="body" sz="quarter" idx="4294967295"/>
          </p:nvPr>
        </p:nvSpPr>
        <p:spPr>
          <a:xfrm>
            <a:off x="-1" y="4575175"/>
            <a:ext cx="2560640" cy="197485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198961">
              <a:lnSpc>
                <a:spcPct val="115000"/>
              </a:lnSpc>
              <a:spcBef>
                <a:spcPts val="400"/>
              </a:spcBef>
              <a:buSzTx/>
              <a:buNone/>
              <a:defRPr sz="2400">
                <a:solidFill>
                  <a:srgbClr val="1F2328"/>
                </a:solidFill>
              </a:defRPr>
            </a:pPr>
            <a:r>
              <a:t>Repository</a:t>
            </a:r>
          </a:p>
          <a:p>
            <a:pPr marL="0" indent="198961">
              <a:lnSpc>
                <a:spcPct val="115000"/>
              </a:lnSpc>
              <a:spcBef>
                <a:spcPts val="400"/>
              </a:spcBef>
              <a:buSzTx/>
              <a:buNone/>
              <a:defRPr sz="2400">
                <a:solidFill>
                  <a:srgbClr val="1F2328"/>
                </a:solidFill>
              </a:defRPr>
            </a:pPr>
            <a:r>
              <a:t>   </a:t>
            </a:r>
            <a:r>
              <a:rPr sz="2000"/>
              <a:t>Models</a:t>
            </a:r>
          </a:p>
          <a:p>
            <a:pPr lvl="1" marL="0" indent="808545">
              <a:lnSpc>
                <a:spcPct val="120000"/>
              </a:lnSpc>
              <a:spcBef>
                <a:spcPts val="600"/>
              </a:spcBef>
              <a:buSzTx/>
              <a:buNone/>
              <a:defRPr sz="1800">
                <a:solidFill>
                  <a:srgbClr val="1F2328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Original</a:t>
            </a:r>
            <a:endParaRPr sz="2000"/>
          </a:p>
          <a:p>
            <a:pPr lvl="1" marL="0" indent="808545">
              <a:lnSpc>
                <a:spcPct val="120000"/>
              </a:lnSpc>
              <a:spcBef>
                <a:spcPts val="600"/>
              </a:spcBef>
              <a:buSzTx/>
              <a:buNone/>
              <a:defRPr sz="1800">
                <a:solidFill>
                  <a:srgbClr val="1F2328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Derived</a:t>
            </a:r>
          </a:p>
        </p:txBody>
      </p:sp>
      <p:grpSp>
        <p:nvGrpSpPr>
          <p:cNvPr id="301" name="Group 8"/>
          <p:cNvGrpSpPr/>
          <p:nvPr/>
        </p:nvGrpSpPr>
        <p:grpSpPr>
          <a:xfrm>
            <a:off x="577611" y="5517602"/>
            <a:ext cx="267460" cy="979233"/>
            <a:chOff x="0" y="-19049"/>
            <a:chExt cx="267458" cy="979232"/>
          </a:xfrm>
        </p:grpSpPr>
        <p:grpSp>
          <p:nvGrpSpPr>
            <p:cNvPr id="297" name="Rectangle 14"/>
            <p:cNvGrpSpPr/>
            <p:nvPr/>
          </p:nvGrpSpPr>
          <p:grpSpPr>
            <a:xfrm>
              <a:off x="0" y="462342"/>
              <a:ext cx="267459" cy="497841"/>
              <a:chOff x="0" y="-19049"/>
              <a:chExt cx="267458" cy="497840"/>
            </a:xfrm>
          </p:grpSpPr>
          <p:sp>
            <p:nvSpPr>
              <p:cNvPr id="295" name="Rectangle"/>
              <p:cNvSpPr/>
              <p:nvPr/>
            </p:nvSpPr>
            <p:spPr>
              <a:xfrm>
                <a:off x="0" y="84037"/>
                <a:ext cx="267459" cy="291666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96" name="B"/>
              <p:cNvSpPr txBox="1"/>
              <p:nvPr/>
            </p:nvSpPr>
            <p:spPr>
              <a:xfrm>
                <a:off x="45719" y="-19050"/>
                <a:ext cx="176020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300" name="Rectangle 15"/>
            <p:cNvGrpSpPr/>
            <p:nvPr/>
          </p:nvGrpSpPr>
          <p:grpSpPr>
            <a:xfrm>
              <a:off x="0" y="-19050"/>
              <a:ext cx="267459" cy="497841"/>
              <a:chOff x="0" y="-19049"/>
              <a:chExt cx="267458" cy="497840"/>
            </a:xfrm>
          </p:grpSpPr>
          <p:sp>
            <p:nvSpPr>
              <p:cNvPr id="298" name="Rectangle"/>
              <p:cNvSpPr/>
              <p:nvPr/>
            </p:nvSpPr>
            <p:spPr>
              <a:xfrm>
                <a:off x="0" y="84037"/>
                <a:ext cx="267459" cy="291666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99" name="A"/>
              <p:cNvSpPr txBox="1"/>
              <p:nvPr/>
            </p:nvSpPr>
            <p:spPr>
              <a:xfrm>
                <a:off x="45719" y="-19050"/>
                <a:ext cx="176020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</p:grpSp>
      <p:grpSp>
        <p:nvGrpSpPr>
          <p:cNvPr id="309" name="Group 44"/>
          <p:cNvGrpSpPr/>
          <p:nvPr/>
        </p:nvGrpSpPr>
        <p:grpSpPr>
          <a:xfrm>
            <a:off x="9152480" y="1484983"/>
            <a:ext cx="2987813" cy="2183091"/>
            <a:chOff x="0" y="0"/>
            <a:chExt cx="2987812" cy="2183090"/>
          </a:xfrm>
        </p:grpSpPr>
        <p:sp>
          <p:nvSpPr>
            <p:cNvPr id="302" name="Text Placeholder 2"/>
            <p:cNvSpPr txBox="1"/>
            <p:nvPr/>
          </p:nvSpPr>
          <p:spPr>
            <a:xfrm>
              <a:off x="0" y="0"/>
              <a:ext cx="2987813" cy="21830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21899" tIns="121899" rIns="121899" bIns="121899" numCol="1" anchor="t">
              <a:spAutoFit/>
            </a:bodyPr>
            <a:lstStyle/>
            <a:p>
              <a:pPr indent="198961">
                <a:lnSpc>
                  <a:spcPct val="115000"/>
                </a:lnSpc>
                <a:defRPr sz="2400">
                  <a:solidFill>
                    <a:srgbClr val="1F2328"/>
                  </a:solidFill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Clients</a:t>
              </a:r>
              <a:endParaRPr b="1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98961">
                <a:lnSpc>
                  <a:spcPct val="115000"/>
                </a:lnSpc>
                <a:defRPr sz="2400"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  </a:t>
              </a:r>
              <a:r>
                <a:rPr sz="2000">
                  <a:latin typeface="Lato Bold"/>
                  <a:ea typeface="Lato Bold"/>
                  <a:cs typeface="Lato Bold"/>
                  <a:sym typeface="Lato Bold"/>
                </a:rPr>
                <a:t>Editors</a:t>
              </a:r>
              <a:endParaRPr>
                <a:latin typeface="Lato Bold"/>
                <a:ea typeface="Lato Bold"/>
                <a:cs typeface="Lato Bold"/>
                <a:sym typeface="Lato Bold"/>
              </a:endParaRPr>
            </a:p>
            <a:p>
              <a:pPr lvl="1" indent="808545">
                <a:lnSpc>
                  <a:spcPct val="125000"/>
                </a:lnSpc>
                <a:defRPr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Visual</a:t>
              </a:r>
              <a:endParaRPr sz="14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lvl="1" indent="808545">
                <a:lnSpc>
                  <a:spcPct val="125000"/>
                </a:lnSpc>
                <a:spcBef>
                  <a:spcPts val="200"/>
                </a:spcBef>
                <a:defRPr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Projectional</a:t>
              </a:r>
              <a:endParaRPr sz="14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98961">
                <a:lnSpc>
                  <a:spcPct val="125000"/>
                </a:lnSpc>
                <a:defRPr sz="2400"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  </a:t>
              </a:r>
            </a:p>
          </p:txBody>
        </p:sp>
        <p:grpSp>
          <p:nvGrpSpPr>
            <p:cNvPr id="305" name="Rectangle 23"/>
            <p:cNvGrpSpPr/>
            <p:nvPr/>
          </p:nvGrpSpPr>
          <p:grpSpPr>
            <a:xfrm>
              <a:off x="659410" y="898242"/>
              <a:ext cx="267460" cy="497841"/>
              <a:chOff x="0" y="-19050"/>
              <a:chExt cx="267459" cy="497840"/>
            </a:xfrm>
          </p:grpSpPr>
          <p:sp>
            <p:nvSpPr>
              <p:cNvPr id="303" name="Rectangle"/>
              <p:cNvSpPr/>
              <p:nvPr/>
            </p:nvSpPr>
            <p:spPr>
              <a:xfrm>
                <a:off x="0" y="84037"/>
                <a:ext cx="267460" cy="291666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4" name="F"/>
              <p:cNvSpPr txBox="1"/>
              <p:nvPr/>
            </p:nvSpPr>
            <p:spPr>
              <a:xfrm>
                <a:off x="45719" y="-19050"/>
                <a:ext cx="176021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308" name="Rectangle 25"/>
            <p:cNvGrpSpPr/>
            <p:nvPr/>
          </p:nvGrpSpPr>
          <p:grpSpPr>
            <a:xfrm>
              <a:off x="659410" y="1283612"/>
              <a:ext cx="267460" cy="497841"/>
              <a:chOff x="0" y="-19050"/>
              <a:chExt cx="267459" cy="497840"/>
            </a:xfrm>
          </p:grpSpPr>
          <p:sp>
            <p:nvSpPr>
              <p:cNvPr id="306" name="Rectangle"/>
              <p:cNvSpPr/>
              <p:nvPr/>
            </p:nvSpPr>
            <p:spPr>
              <a:xfrm>
                <a:off x="0" y="84037"/>
                <a:ext cx="267460" cy="291666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7" name="G"/>
              <p:cNvSpPr txBox="1"/>
              <p:nvPr/>
            </p:nvSpPr>
            <p:spPr>
              <a:xfrm>
                <a:off x="45719" y="-19050"/>
                <a:ext cx="176021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</p:grpSp>
      <p:grpSp>
        <p:nvGrpSpPr>
          <p:cNvPr id="320" name="Group 46"/>
          <p:cNvGrpSpPr/>
          <p:nvPr/>
        </p:nvGrpSpPr>
        <p:grpSpPr>
          <a:xfrm>
            <a:off x="9152480" y="3152743"/>
            <a:ext cx="3058086" cy="1728277"/>
            <a:chOff x="0" y="0"/>
            <a:chExt cx="3058085" cy="1728275"/>
          </a:xfrm>
        </p:grpSpPr>
        <p:grpSp>
          <p:nvGrpSpPr>
            <p:cNvPr id="312" name="Rectangle 17"/>
            <p:cNvGrpSpPr/>
            <p:nvPr/>
          </p:nvGrpSpPr>
          <p:grpSpPr>
            <a:xfrm>
              <a:off x="659411" y="464453"/>
              <a:ext cx="267460" cy="497841"/>
              <a:chOff x="0" y="-19050"/>
              <a:chExt cx="267459" cy="497840"/>
            </a:xfrm>
          </p:grpSpPr>
          <p:sp>
            <p:nvSpPr>
              <p:cNvPr id="310" name="Rectangle"/>
              <p:cNvSpPr/>
              <p:nvPr/>
            </p:nvSpPr>
            <p:spPr>
              <a:xfrm>
                <a:off x="0" y="84038"/>
                <a:ext cx="267460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1" name="C"/>
              <p:cNvSpPr txBox="1"/>
              <p:nvPr/>
            </p:nvSpPr>
            <p:spPr>
              <a:xfrm>
                <a:off x="45719" y="-19051"/>
                <a:ext cx="176021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315" name="Rectangle 19"/>
            <p:cNvGrpSpPr/>
            <p:nvPr/>
          </p:nvGrpSpPr>
          <p:grpSpPr>
            <a:xfrm>
              <a:off x="659411" y="847444"/>
              <a:ext cx="267460" cy="497841"/>
              <a:chOff x="0" y="-19050"/>
              <a:chExt cx="267459" cy="497840"/>
            </a:xfrm>
          </p:grpSpPr>
          <p:sp>
            <p:nvSpPr>
              <p:cNvPr id="313" name="Rectangle"/>
              <p:cNvSpPr/>
              <p:nvPr/>
            </p:nvSpPr>
            <p:spPr>
              <a:xfrm>
                <a:off x="0" y="84038"/>
                <a:ext cx="267460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4" name="D"/>
              <p:cNvSpPr txBox="1"/>
              <p:nvPr/>
            </p:nvSpPr>
            <p:spPr>
              <a:xfrm>
                <a:off x="45719" y="-19051"/>
                <a:ext cx="176021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318" name="Rectangle 21"/>
            <p:cNvGrpSpPr/>
            <p:nvPr/>
          </p:nvGrpSpPr>
          <p:grpSpPr>
            <a:xfrm>
              <a:off x="659411" y="1230435"/>
              <a:ext cx="267460" cy="497841"/>
              <a:chOff x="0" y="-19050"/>
              <a:chExt cx="267459" cy="497840"/>
            </a:xfrm>
          </p:grpSpPr>
          <p:sp>
            <p:nvSpPr>
              <p:cNvPr id="316" name="Rectangle"/>
              <p:cNvSpPr/>
              <p:nvPr/>
            </p:nvSpPr>
            <p:spPr>
              <a:xfrm>
                <a:off x="0" y="84038"/>
                <a:ext cx="267460" cy="291664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7" name="E"/>
              <p:cNvSpPr txBox="1"/>
              <p:nvPr/>
            </p:nvSpPr>
            <p:spPr>
              <a:xfrm>
                <a:off x="45719" y="-19051"/>
                <a:ext cx="176021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319" name="Text Placeholder 2"/>
            <p:cNvSpPr txBox="1"/>
            <p:nvPr/>
          </p:nvSpPr>
          <p:spPr>
            <a:xfrm>
              <a:off x="0" y="0"/>
              <a:ext cx="3058086" cy="16960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21899" tIns="121899" rIns="121899" bIns="121899" numCol="1" anchor="t">
              <a:spAutoFit/>
            </a:bodyPr>
            <a:lstStyle/>
            <a:p>
              <a:pPr indent="198961">
                <a:lnSpc>
                  <a:spcPct val="115000"/>
                </a:lnSpc>
                <a:defRPr sz="2400"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  </a:t>
              </a:r>
              <a:r>
                <a:rPr sz="2000">
                  <a:latin typeface="Lato Bold"/>
                  <a:ea typeface="Lato Bold"/>
                  <a:cs typeface="Lato Bold"/>
                  <a:sym typeface="Lato Bold"/>
                </a:rPr>
                <a:t>Processors</a:t>
              </a:r>
              <a:endParaRPr sz="2900">
                <a:latin typeface="Lato Bold"/>
                <a:ea typeface="Lato Bold"/>
                <a:cs typeface="Lato Bold"/>
                <a:sym typeface="Lato Bold"/>
              </a:endParaRPr>
            </a:p>
            <a:p>
              <a:pPr lvl="1" indent="808545">
                <a:lnSpc>
                  <a:spcPct val="125000"/>
                </a:lnSpc>
                <a:defRPr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Model checker</a:t>
              </a:r>
              <a:endParaRPr sz="14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lvl="1" indent="808545">
                <a:lnSpc>
                  <a:spcPct val="125000"/>
                </a:lnSpc>
                <a:spcBef>
                  <a:spcPts val="200"/>
                </a:spcBef>
                <a:defRPr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Importer</a:t>
              </a:r>
              <a:endParaRPr sz="14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lvl="1" indent="808545">
                <a:lnSpc>
                  <a:spcPct val="125000"/>
                </a:lnSpc>
                <a:spcBef>
                  <a:spcPts val="200"/>
                </a:spcBef>
                <a:defRPr>
                  <a:solidFill>
                    <a:srgbClr val="1F2328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pPr>
              <a:r>
                <a:t>  Generator </a:t>
              </a:r>
            </a:p>
          </p:txBody>
        </p:sp>
      </p:grpSp>
      <p:grpSp>
        <p:nvGrpSpPr>
          <p:cNvPr id="326" name="Group 47"/>
          <p:cNvGrpSpPr/>
          <p:nvPr/>
        </p:nvGrpSpPr>
        <p:grpSpPr>
          <a:xfrm>
            <a:off x="2935889" y="5287247"/>
            <a:ext cx="6320222" cy="1081569"/>
            <a:chOff x="0" y="0"/>
            <a:chExt cx="6320221" cy="1081567"/>
          </a:xfrm>
        </p:grpSpPr>
        <p:sp>
          <p:nvSpPr>
            <p:cNvPr id="321" name="TextBox 26"/>
            <p:cNvSpPr/>
            <p:nvPr/>
          </p:nvSpPr>
          <p:spPr>
            <a:xfrm>
              <a:off x="-1" y="0"/>
              <a:ext cx="1110554" cy="1081568"/>
            </a:xfrm>
            <a:prstGeom prst="rect">
              <a:avLst/>
            </a:prstGeom>
            <a:solidFill>
              <a:srgbClr val="E6752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r">
                <a:defRPr sz="2400">
                  <a:solidFill>
                    <a:srgbClr val="E6752A"/>
                  </a:solidFill>
                  <a:latin typeface="Lato Bold"/>
                  <a:ea typeface="Lato Bold"/>
                  <a:cs typeface="Lato Bold"/>
                  <a:sym typeface="Lato Bold"/>
                </a:defRPr>
              </a:pPr>
            </a:p>
          </p:txBody>
        </p:sp>
        <p:grpSp>
          <p:nvGrpSpPr>
            <p:cNvPr id="324" name="TextBox 3"/>
            <p:cNvGrpSpPr/>
            <p:nvPr/>
          </p:nvGrpSpPr>
          <p:grpSpPr>
            <a:xfrm>
              <a:off x="1089629" y="0"/>
              <a:ext cx="5230592" cy="1081568"/>
              <a:chOff x="0" y="0"/>
              <a:chExt cx="5230591" cy="1081567"/>
            </a:xfrm>
          </p:grpSpPr>
          <p:sp>
            <p:nvSpPr>
              <p:cNvPr id="322" name="Rectangle"/>
              <p:cNvSpPr/>
              <p:nvPr/>
            </p:nvSpPr>
            <p:spPr>
              <a:xfrm>
                <a:off x="-1" y="0"/>
                <a:ext cx="5230593" cy="1081568"/>
              </a:xfrm>
              <a:prstGeom prst="rect">
                <a:avLst/>
              </a:prstGeom>
              <a:solidFill>
                <a:srgbClr val="E6752A">
                  <a:alpha val="24837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23" name="Protocols (bulk      / delta     )…"/>
              <p:cNvSpPr txBox="1"/>
              <p:nvPr/>
            </p:nvSpPr>
            <p:spPr>
              <a:xfrm>
                <a:off x="318220" y="126764"/>
                <a:ext cx="4594150" cy="8280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2400">
                    <a:solidFill>
                      <a:srgbClr val="E6752A"/>
                    </a:solidFill>
                    <a:latin typeface="Lato Bold"/>
                    <a:ea typeface="Lato Bold"/>
                    <a:cs typeface="Lato Bold"/>
                    <a:sym typeface="Lato Bold"/>
                  </a:defRPr>
                </a:pPr>
                <a:r>
                  <a:t>P</a:t>
                </a:r>
                <a:r>
                  <a:t>rotocols (bulk      / delta     )</a:t>
                </a:r>
              </a:p>
              <a:p>
                <a:pPr algn="ctr">
                  <a:defRPr sz="2400">
                    <a:solidFill>
                      <a:srgbClr val="E6752A"/>
                    </a:solidFill>
                    <a:latin typeface="Lato Bold"/>
                    <a:ea typeface="Lato Bold"/>
                    <a:cs typeface="Lato Bold"/>
                    <a:sym typeface="Lato Bold"/>
                  </a:defRPr>
                </a:pPr>
                <a:r>
                  <a:t>Contents (JSON      / Protobuf     )</a:t>
                </a:r>
              </a:p>
            </p:txBody>
          </p:sp>
        </p:grpSp>
        <p:pic>
          <p:nvPicPr>
            <p:cNvPr id="325" name="Graphic 6" descr="Graphic 6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28396" y="96065"/>
              <a:ext cx="884731" cy="8894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27" name="Graphic 13" descr="Graphic 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55" name="Group 547"/>
          <p:cNvGrpSpPr/>
          <p:nvPr/>
        </p:nvGrpSpPr>
        <p:grpSpPr>
          <a:xfrm>
            <a:off x="4027985" y="1734002"/>
            <a:ext cx="2038778" cy="1783909"/>
            <a:chOff x="0" y="-19050"/>
            <a:chExt cx="2038776" cy="1783908"/>
          </a:xfrm>
        </p:grpSpPr>
        <p:grpSp>
          <p:nvGrpSpPr>
            <p:cNvPr id="330" name="Rectangle 2"/>
            <p:cNvGrpSpPr/>
            <p:nvPr/>
          </p:nvGrpSpPr>
          <p:grpSpPr>
            <a:xfrm>
              <a:off x="1771317" y="764825"/>
              <a:ext cx="267460" cy="497841"/>
              <a:chOff x="0" y="-19050"/>
              <a:chExt cx="267458" cy="497840"/>
            </a:xfrm>
          </p:grpSpPr>
          <p:sp>
            <p:nvSpPr>
              <p:cNvPr id="328" name="Rectangle"/>
              <p:cNvSpPr/>
              <p:nvPr/>
            </p:nvSpPr>
            <p:spPr>
              <a:xfrm>
                <a:off x="0" y="84037"/>
                <a:ext cx="267459" cy="291666"/>
              </a:xfrm>
              <a:prstGeom prst="rect">
                <a:avLst/>
              </a:prstGeom>
              <a:solidFill>
                <a:srgbClr val="20386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29" name="A"/>
              <p:cNvSpPr txBox="1"/>
              <p:nvPr/>
            </p:nvSpPr>
            <p:spPr>
              <a:xfrm>
                <a:off x="45719" y="-19050"/>
                <a:ext cx="176020" cy="497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  <a:latin typeface="Fira Code Light Bold"/>
                    <a:ea typeface="Fira Code Light Bold"/>
                    <a:cs typeface="Fira Code Light Bold"/>
                    <a:sym typeface="Fira Code Light Bold"/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354" name="Group 28"/>
            <p:cNvGrpSpPr/>
            <p:nvPr/>
          </p:nvGrpSpPr>
          <p:grpSpPr>
            <a:xfrm>
              <a:off x="-1" y="-19051"/>
              <a:ext cx="1956469" cy="1783910"/>
              <a:chOff x="0" y="-19050"/>
              <a:chExt cx="1956467" cy="1783908"/>
            </a:xfrm>
          </p:grpSpPr>
          <p:sp>
            <p:nvSpPr>
              <p:cNvPr id="331" name="Freeform: Shape 410"/>
              <p:cNvSpPr/>
              <p:nvPr/>
            </p:nvSpPr>
            <p:spPr>
              <a:xfrm>
                <a:off x="0" y="37970"/>
                <a:ext cx="1195980" cy="7774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3600"/>
                    </a:moveTo>
                    <a:cubicBezTo>
                      <a:pt x="0" y="1612"/>
                      <a:pt x="1069" y="0"/>
                      <a:pt x="2387" y="0"/>
                    </a:cubicBezTo>
                    <a:lnTo>
                      <a:pt x="19213" y="0"/>
                    </a:lnTo>
                    <a:cubicBezTo>
                      <a:pt x="20531" y="0"/>
                      <a:pt x="21600" y="1612"/>
                      <a:pt x="21600" y="3600"/>
                    </a:cubicBezTo>
                    <a:lnTo>
                      <a:pt x="21600" y="18000"/>
                    </a:lnTo>
                    <a:cubicBezTo>
                      <a:pt x="21600" y="19988"/>
                      <a:pt x="20531" y="21600"/>
                      <a:pt x="19213" y="21600"/>
                    </a:cubicBezTo>
                    <a:lnTo>
                      <a:pt x="2387" y="21600"/>
                    </a:lnTo>
                    <a:cubicBezTo>
                      <a:pt x="1069" y="21600"/>
                      <a:pt x="0" y="19988"/>
                      <a:pt x="0" y="18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17" cap="flat">
                <a:solidFill>
                  <a:srgbClr val="0D0D0D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332" name="Freeform: Shape 409"/>
              <p:cNvSpPr/>
              <p:nvPr/>
            </p:nvSpPr>
            <p:spPr>
              <a:xfrm>
                <a:off x="1020482" y="1529083"/>
                <a:ext cx="376995" cy="2039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3600"/>
                    </a:moveTo>
                    <a:cubicBezTo>
                      <a:pt x="0" y="1612"/>
                      <a:pt x="889" y="0"/>
                      <a:pt x="1986" y="0"/>
                    </a:cubicBezTo>
                    <a:lnTo>
                      <a:pt x="19614" y="0"/>
                    </a:lnTo>
                    <a:cubicBezTo>
                      <a:pt x="20711" y="0"/>
                      <a:pt x="21600" y="1612"/>
                      <a:pt x="21600" y="3600"/>
                    </a:cubicBezTo>
                    <a:lnTo>
                      <a:pt x="21600" y="18000"/>
                    </a:lnTo>
                    <a:cubicBezTo>
                      <a:pt x="21600" y="19988"/>
                      <a:pt x="20711" y="21600"/>
                      <a:pt x="19614" y="21600"/>
                    </a:cubicBezTo>
                    <a:lnTo>
                      <a:pt x="1986" y="21600"/>
                    </a:lnTo>
                    <a:cubicBezTo>
                      <a:pt x="889" y="21600"/>
                      <a:pt x="0" y="19988"/>
                      <a:pt x="0" y="18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17" cap="flat">
                <a:solidFill>
                  <a:srgbClr val="000000"/>
                </a:solidFill>
                <a:prstDash val="sysDot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sp>
            <p:nvSpPr>
              <p:cNvPr id="333" name="Freeform: Shape 416"/>
              <p:cNvSpPr/>
              <p:nvPr/>
            </p:nvSpPr>
            <p:spPr>
              <a:xfrm>
                <a:off x="1195978" y="426679"/>
                <a:ext cx="128146" cy="1049853"/>
              </a:xfrm>
              <a:prstGeom prst="line">
                <a:avLst/>
              </a:prstGeom>
              <a:noFill/>
              <a:ln w="10709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34" name="Freeform: Shape 417"/>
              <p:cNvSpPr/>
              <p:nvPr/>
            </p:nvSpPr>
            <p:spPr>
              <a:xfrm>
                <a:off x="500490" y="815387"/>
                <a:ext cx="461350" cy="647834"/>
              </a:xfrm>
              <a:prstGeom prst="line">
                <a:avLst/>
              </a:prstGeom>
              <a:noFill/>
              <a:ln w="10709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35" name="Freeform: Shape 418"/>
              <p:cNvSpPr/>
              <p:nvPr/>
            </p:nvSpPr>
            <p:spPr>
              <a:xfrm>
                <a:off x="32500" y="770781"/>
                <a:ext cx="940970" cy="899239"/>
              </a:xfrm>
              <a:prstGeom prst="line">
                <a:avLst/>
              </a:prstGeom>
              <a:noFill/>
              <a:ln w="10709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36" name="Freeform: Shape 419"/>
              <p:cNvSpPr/>
              <p:nvPr/>
            </p:nvSpPr>
            <p:spPr>
              <a:xfrm>
                <a:off x="1156980" y="783526"/>
                <a:ext cx="155101" cy="888738"/>
              </a:xfrm>
              <a:prstGeom prst="line">
                <a:avLst/>
              </a:prstGeom>
              <a:noFill/>
              <a:ln w="10709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37" name="Freeform: Shape 422"/>
              <p:cNvSpPr/>
              <p:nvPr/>
            </p:nvSpPr>
            <p:spPr>
              <a:xfrm>
                <a:off x="1579473" y="1560945"/>
                <a:ext cx="376995" cy="203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3600"/>
                    </a:moveTo>
                    <a:cubicBezTo>
                      <a:pt x="0" y="1612"/>
                      <a:pt x="889" y="0"/>
                      <a:pt x="1986" y="0"/>
                    </a:cubicBezTo>
                    <a:lnTo>
                      <a:pt x="19614" y="0"/>
                    </a:lnTo>
                    <a:cubicBezTo>
                      <a:pt x="20711" y="0"/>
                      <a:pt x="21600" y="1612"/>
                      <a:pt x="21600" y="3600"/>
                    </a:cubicBezTo>
                    <a:lnTo>
                      <a:pt x="21600" y="18000"/>
                    </a:lnTo>
                    <a:cubicBezTo>
                      <a:pt x="21600" y="19988"/>
                      <a:pt x="20711" y="21600"/>
                      <a:pt x="19614" y="21600"/>
                    </a:cubicBezTo>
                    <a:lnTo>
                      <a:pt x="1986" y="21600"/>
                    </a:lnTo>
                    <a:cubicBezTo>
                      <a:pt x="889" y="21600"/>
                      <a:pt x="0" y="19988"/>
                      <a:pt x="0" y="18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17" cap="flat">
                <a:solidFill>
                  <a:srgbClr val="000000"/>
                </a:solidFill>
                <a:prstDash val="sysDot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Lato Regular"/>
                    <a:ea typeface="Lato Regular"/>
                    <a:cs typeface="Lato Regular"/>
                    <a:sym typeface="Lato Regular"/>
                  </a:defRPr>
                </a:pPr>
              </a:p>
            </p:txBody>
          </p:sp>
          <p:grpSp>
            <p:nvGrpSpPr>
              <p:cNvPr id="350" name="Graphic 4"/>
              <p:cNvGrpSpPr/>
              <p:nvPr/>
            </p:nvGrpSpPr>
            <p:grpSpPr>
              <a:xfrm>
                <a:off x="106896" y="92113"/>
                <a:ext cx="987627" cy="669090"/>
                <a:chOff x="0" y="0"/>
                <a:chExt cx="987626" cy="669089"/>
              </a:xfrm>
            </p:grpSpPr>
            <p:sp>
              <p:nvSpPr>
                <p:cNvPr id="338" name="Freeform: Shape 516"/>
                <p:cNvSpPr/>
                <p:nvPr/>
              </p:nvSpPr>
              <p:spPr>
                <a:xfrm>
                  <a:off x="0" y="0"/>
                  <a:ext cx="206482" cy="138426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39" name="Freeform: Shape 517"/>
                <p:cNvSpPr/>
                <p:nvPr/>
              </p:nvSpPr>
              <p:spPr>
                <a:xfrm>
                  <a:off x="208763" y="180846"/>
                  <a:ext cx="206483" cy="138427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0" name="Freeform: Shape 518"/>
                <p:cNvSpPr/>
                <p:nvPr/>
              </p:nvSpPr>
              <p:spPr>
                <a:xfrm>
                  <a:off x="208763" y="353506"/>
                  <a:ext cx="206483" cy="138428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1" name="Freeform: Shape 519"/>
                <p:cNvSpPr/>
                <p:nvPr/>
              </p:nvSpPr>
              <p:spPr>
                <a:xfrm flipH="1">
                  <a:off x="94794" y="250059"/>
                  <a:ext cx="121841" cy="1"/>
                </a:xfrm>
                <a:prstGeom prst="line">
                  <a:avLst/>
                </a:prstGeom>
                <a:noFill/>
                <a:ln w="20878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2" name="Freeform: Shape 520"/>
                <p:cNvSpPr/>
                <p:nvPr/>
              </p:nvSpPr>
              <p:spPr>
                <a:xfrm>
                  <a:off x="417520" y="530664"/>
                  <a:ext cx="206483" cy="138426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3" name="Freeform: Shape 521"/>
                <p:cNvSpPr/>
                <p:nvPr/>
              </p:nvSpPr>
              <p:spPr>
                <a:xfrm>
                  <a:off x="312001" y="481731"/>
                  <a:ext cx="113391" cy="11814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21600"/>
                      </a:moveTo>
                      <a:lnTo>
                        <a:pt x="0" y="216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0878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4" name="Freeform: Shape 522"/>
                <p:cNvSpPr/>
                <p:nvPr/>
              </p:nvSpPr>
              <p:spPr>
                <a:xfrm>
                  <a:off x="103244" y="131914"/>
                  <a:ext cx="113391" cy="2908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21600"/>
                      </a:moveTo>
                      <a:lnTo>
                        <a:pt x="0" y="216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0878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5" name="Freeform: Shape 523"/>
                <p:cNvSpPr/>
                <p:nvPr/>
              </p:nvSpPr>
              <p:spPr>
                <a:xfrm>
                  <a:off x="572380" y="0"/>
                  <a:ext cx="206490" cy="138426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6" name="Freeform: Shape 524"/>
                <p:cNvSpPr/>
                <p:nvPr/>
              </p:nvSpPr>
              <p:spPr>
                <a:xfrm>
                  <a:off x="781144" y="177156"/>
                  <a:ext cx="206483" cy="138427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7" name="Freeform: Shape 525"/>
                <p:cNvSpPr/>
                <p:nvPr/>
              </p:nvSpPr>
              <p:spPr>
                <a:xfrm>
                  <a:off x="675624" y="128224"/>
                  <a:ext cx="113392" cy="1181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21600"/>
                      </a:moveTo>
                      <a:lnTo>
                        <a:pt x="0" y="216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0878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8" name="Freeform: Shape 526"/>
                <p:cNvSpPr/>
                <p:nvPr/>
              </p:nvSpPr>
              <p:spPr>
                <a:xfrm>
                  <a:off x="614708" y="303271"/>
                  <a:ext cx="269682" cy="2966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lnTo>
                        <a:pt x="21600" y="21600"/>
                      </a:lnTo>
                      <a:lnTo>
                        <a:pt x="0" y="21600"/>
                      </a:lnTo>
                    </a:path>
                  </a:pathLst>
                </a:custGeom>
                <a:noFill/>
                <a:ln w="20878" cap="flat">
                  <a:solidFill>
                    <a:srgbClr val="000000"/>
                  </a:solidFill>
                  <a:prstDash val="sysDot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Lato Regular"/>
                      <a:ea typeface="Lato Regular"/>
                      <a:cs typeface="Lato Regular"/>
                      <a:sym typeface="Lato Regular"/>
                    </a:defRPr>
                  </a:pPr>
                </a:p>
              </p:txBody>
            </p:sp>
            <p:sp>
              <p:nvSpPr>
                <p:cNvPr id="349" name="Freeform: Shape 527"/>
                <p:cNvSpPr/>
                <p:nvPr/>
              </p:nvSpPr>
              <p:spPr>
                <a:xfrm flipH="1" flipV="1">
                  <a:off x="406516" y="285117"/>
                  <a:ext cx="382501" cy="1"/>
                </a:xfrm>
                <a:prstGeom prst="line">
                  <a:avLst/>
                </a:prstGeom>
                <a:noFill/>
                <a:ln w="20878" cap="flat">
                  <a:solidFill>
                    <a:srgbClr val="000000"/>
                  </a:solidFill>
                  <a:prstDash val="sysDot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353" name="Rectangle 4"/>
              <p:cNvGrpSpPr/>
              <p:nvPr/>
            </p:nvGrpSpPr>
            <p:grpSpPr>
              <a:xfrm>
                <a:off x="1252132" y="-19051"/>
                <a:ext cx="267459" cy="497842"/>
                <a:chOff x="0" y="-19050"/>
                <a:chExt cx="267457" cy="497840"/>
              </a:xfrm>
            </p:grpSpPr>
            <p:sp>
              <p:nvSpPr>
                <p:cNvPr id="351" name="Rectangle"/>
                <p:cNvSpPr/>
                <p:nvPr/>
              </p:nvSpPr>
              <p:spPr>
                <a:xfrm>
                  <a:off x="0" y="84038"/>
                  <a:ext cx="267458" cy="291664"/>
                </a:xfrm>
                <a:prstGeom prst="rect">
                  <a:avLst/>
                </a:prstGeom>
                <a:solidFill>
                  <a:srgbClr val="20386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352" name="B"/>
                <p:cNvSpPr txBox="1"/>
                <p:nvPr/>
              </p:nvSpPr>
              <p:spPr>
                <a:xfrm>
                  <a:off x="45719" y="-19051"/>
                  <a:ext cx="176019" cy="4978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 sz="2400">
                      <a:solidFill>
                        <a:srgbClr val="FFFFFF"/>
                      </a:solidFill>
                      <a:latin typeface="Fira Code Light Bold"/>
                      <a:ea typeface="Fira Code Light Bold"/>
                      <a:cs typeface="Fira Code Light Bold"/>
                      <a:sym typeface="Fira Code Light Bold"/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</p:grpSp>
      </p:grpSp>
      <p:grpSp>
        <p:nvGrpSpPr>
          <p:cNvPr id="363" name="Group 10"/>
          <p:cNvGrpSpPr/>
          <p:nvPr/>
        </p:nvGrpSpPr>
        <p:grpSpPr>
          <a:xfrm>
            <a:off x="1754037" y="2708749"/>
            <a:ext cx="10232325" cy="3829836"/>
            <a:chOff x="0" y="0"/>
            <a:chExt cx="10232324" cy="3829834"/>
          </a:xfrm>
        </p:grpSpPr>
        <p:sp>
          <p:nvSpPr>
            <p:cNvPr id="356" name="TextBox 5"/>
            <p:cNvSpPr txBox="1"/>
            <p:nvPr/>
          </p:nvSpPr>
          <p:spPr>
            <a:xfrm>
              <a:off x="4327" y="2807132"/>
              <a:ext cx="414695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200">
                  <a:solidFill>
                    <a:srgbClr val="00B050"/>
                  </a:solidFill>
                  <a:latin typeface="Wingdings"/>
                  <a:ea typeface="Wingdings"/>
                  <a:cs typeface="Wingdings"/>
                  <a:sym typeface="Wingdings"/>
                </a:defRPr>
              </a:lvl1pPr>
            </a:lstStyle>
            <a:p>
              <a:pPr>
                <a:defRPr b="1">
                  <a:latin typeface="+mn-lt"/>
                  <a:ea typeface="+mn-ea"/>
                  <a:cs typeface="+mn-cs"/>
                  <a:sym typeface="Calibri"/>
                </a:defRPr>
              </a:pPr>
              <a:r>
                <a:rPr b="0">
                  <a:latin typeface="Wingdings"/>
                  <a:ea typeface="Wingdings"/>
                  <a:cs typeface="Wingdings"/>
                  <a:sym typeface="Wingdings"/>
                </a:rPr>
                <a:t>✓</a:t>
              </a:r>
            </a:p>
          </p:txBody>
        </p:sp>
        <p:sp>
          <p:nvSpPr>
            <p:cNvPr id="357" name="TextBox 34"/>
            <p:cNvSpPr txBox="1"/>
            <p:nvPr/>
          </p:nvSpPr>
          <p:spPr>
            <a:xfrm>
              <a:off x="9817629" y="0"/>
              <a:ext cx="414696" cy="574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200">
                  <a:solidFill>
                    <a:srgbClr val="00B050"/>
                  </a:solidFill>
                  <a:latin typeface="Wingdings"/>
                  <a:ea typeface="Wingdings"/>
                  <a:cs typeface="Wingdings"/>
                  <a:sym typeface="Wingdings"/>
                </a:defRPr>
              </a:lvl1pPr>
            </a:lstStyle>
            <a:p>
              <a:pPr>
                <a:defRPr b="1">
                  <a:latin typeface="+mn-lt"/>
                  <a:ea typeface="+mn-ea"/>
                  <a:cs typeface="+mn-cs"/>
                  <a:sym typeface="Calibri"/>
                </a:defRPr>
              </a:pPr>
              <a:r>
                <a:rPr b="0">
                  <a:latin typeface="Wingdings"/>
                  <a:ea typeface="Wingdings"/>
                  <a:cs typeface="Wingdings"/>
                  <a:sym typeface="Wingdings"/>
                </a:rPr>
                <a:t>✓</a:t>
              </a:r>
            </a:p>
          </p:txBody>
        </p:sp>
        <p:sp>
          <p:nvSpPr>
            <p:cNvPr id="358" name="TextBox 35"/>
            <p:cNvSpPr txBox="1"/>
            <p:nvPr/>
          </p:nvSpPr>
          <p:spPr>
            <a:xfrm>
              <a:off x="9817629" y="1266275"/>
              <a:ext cx="414696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200">
                  <a:solidFill>
                    <a:srgbClr val="00B050"/>
                  </a:solidFill>
                  <a:latin typeface="Wingdings"/>
                  <a:ea typeface="Wingdings"/>
                  <a:cs typeface="Wingdings"/>
                  <a:sym typeface="Wingdings"/>
                </a:defRPr>
              </a:lvl1pPr>
            </a:lstStyle>
            <a:p>
              <a:pPr>
                <a:defRPr b="1">
                  <a:latin typeface="+mn-lt"/>
                  <a:ea typeface="+mn-ea"/>
                  <a:cs typeface="+mn-cs"/>
                  <a:sym typeface="Calibri"/>
                </a:defRPr>
              </a:pPr>
              <a:r>
                <a:rPr b="0">
                  <a:latin typeface="Wingdings"/>
                  <a:ea typeface="Wingdings"/>
                  <a:cs typeface="Wingdings"/>
                  <a:sym typeface="Wingdings"/>
                </a:rPr>
                <a:t>✓</a:t>
              </a:r>
            </a:p>
          </p:txBody>
        </p:sp>
        <p:sp>
          <p:nvSpPr>
            <p:cNvPr id="359" name="TextBox 36"/>
            <p:cNvSpPr txBox="1"/>
            <p:nvPr/>
          </p:nvSpPr>
          <p:spPr>
            <a:xfrm>
              <a:off x="9817629" y="1592932"/>
              <a:ext cx="414696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200">
                  <a:solidFill>
                    <a:srgbClr val="00B050"/>
                  </a:solidFill>
                  <a:latin typeface="Wingdings"/>
                  <a:ea typeface="Wingdings"/>
                  <a:cs typeface="Wingdings"/>
                  <a:sym typeface="Wingdings"/>
                </a:defRPr>
              </a:lvl1pPr>
            </a:lstStyle>
            <a:p>
              <a:pPr>
                <a:defRPr b="1">
                  <a:latin typeface="+mn-lt"/>
                  <a:ea typeface="+mn-ea"/>
                  <a:cs typeface="+mn-cs"/>
                  <a:sym typeface="Calibri"/>
                </a:defRPr>
              </a:pPr>
              <a:r>
                <a:rPr b="0">
                  <a:latin typeface="Wingdings"/>
                  <a:ea typeface="Wingdings"/>
                  <a:cs typeface="Wingdings"/>
                  <a:sym typeface="Wingdings"/>
                </a:rPr>
                <a:t>✓</a:t>
              </a:r>
            </a:p>
          </p:txBody>
        </p:sp>
        <p:sp>
          <p:nvSpPr>
            <p:cNvPr id="360" name="TextBox 37"/>
            <p:cNvSpPr txBox="1"/>
            <p:nvPr/>
          </p:nvSpPr>
          <p:spPr>
            <a:xfrm>
              <a:off x="5047222" y="2673810"/>
              <a:ext cx="414695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200">
                  <a:solidFill>
                    <a:srgbClr val="00B050"/>
                  </a:solidFill>
                  <a:latin typeface="Wingdings"/>
                  <a:ea typeface="Wingdings"/>
                  <a:cs typeface="Wingdings"/>
                  <a:sym typeface="Wingdings"/>
                </a:defRPr>
              </a:lvl1pPr>
            </a:lstStyle>
            <a:p>
              <a:pPr>
                <a:defRPr b="1">
                  <a:latin typeface="+mn-lt"/>
                  <a:ea typeface="+mn-ea"/>
                  <a:cs typeface="+mn-cs"/>
                  <a:sym typeface="Calibri"/>
                </a:defRPr>
              </a:pPr>
              <a:r>
                <a:rPr b="0">
                  <a:latin typeface="Wingdings"/>
                  <a:ea typeface="Wingdings"/>
                  <a:cs typeface="Wingdings"/>
                  <a:sym typeface="Wingdings"/>
                </a:rPr>
                <a:t>✓</a:t>
              </a:r>
            </a:p>
          </p:txBody>
        </p:sp>
        <p:sp>
          <p:nvSpPr>
            <p:cNvPr id="361" name="TextBox 38"/>
            <p:cNvSpPr txBox="1"/>
            <p:nvPr/>
          </p:nvSpPr>
          <p:spPr>
            <a:xfrm>
              <a:off x="6370608" y="2673810"/>
              <a:ext cx="414695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200">
                  <a:solidFill>
                    <a:srgbClr val="00B050"/>
                  </a:solidFill>
                  <a:latin typeface="Wingdings"/>
                  <a:ea typeface="Wingdings"/>
                  <a:cs typeface="Wingdings"/>
                  <a:sym typeface="Wingdings"/>
                </a:defRPr>
              </a:lvl1pPr>
            </a:lstStyle>
            <a:p>
              <a:pPr>
                <a:defRPr b="1">
                  <a:latin typeface="+mn-lt"/>
                  <a:ea typeface="+mn-ea"/>
                  <a:cs typeface="+mn-cs"/>
                  <a:sym typeface="Calibri"/>
                </a:defRPr>
              </a:pPr>
              <a:r>
                <a:rPr b="0">
                  <a:latin typeface="Wingdings"/>
                  <a:ea typeface="Wingdings"/>
                  <a:cs typeface="Wingdings"/>
                  <a:sym typeface="Wingdings"/>
                </a:rPr>
                <a:t>✓</a:t>
              </a:r>
            </a:p>
          </p:txBody>
        </p:sp>
        <p:sp>
          <p:nvSpPr>
            <p:cNvPr id="362" name="TextBox 39"/>
            <p:cNvSpPr txBox="1"/>
            <p:nvPr/>
          </p:nvSpPr>
          <p:spPr>
            <a:xfrm>
              <a:off x="0" y="3255794"/>
              <a:ext cx="414695" cy="574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200">
                  <a:ln w="19050" cap="flat">
                    <a:solidFill>
                      <a:srgbClr val="00B050"/>
                    </a:solidFill>
                    <a:prstDash val="sysDot"/>
                    <a:round/>
                  </a:ln>
                  <a:solidFill>
                    <a:srgbClr val="FFFFFF"/>
                  </a:solidFill>
                  <a:latin typeface="Wingdings"/>
                  <a:ea typeface="Wingdings"/>
                  <a:cs typeface="Wingdings"/>
                  <a:sym typeface="Wingdings"/>
                </a:defRPr>
              </a:lvl1pPr>
            </a:lstStyle>
            <a:p>
              <a:pPr>
                <a:defRPr b="1">
                  <a:latin typeface="+mn-lt"/>
                  <a:ea typeface="+mn-ea"/>
                  <a:cs typeface="+mn-cs"/>
                  <a:sym typeface="Calibri"/>
                </a:defRPr>
              </a:pPr>
              <a:r>
                <a:rPr b="0">
                  <a:latin typeface="Wingdings"/>
                  <a:ea typeface="Wingdings"/>
                  <a:cs typeface="Wingdings"/>
                  <a:sym typeface="Wingdings"/>
                </a:rPr>
                <a:t>✓</a:t>
              </a:r>
            </a:p>
          </p:txBody>
        </p:sp>
      </p:grpSp>
      <p:sp>
        <p:nvSpPr>
          <p:cNvPr id="364" name="TextBox 9"/>
          <p:cNvSpPr txBox="1"/>
          <p:nvPr/>
        </p:nvSpPr>
        <p:spPr>
          <a:xfrm>
            <a:off x="6615118" y="5769385"/>
            <a:ext cx="414696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solidFill>
                  <a:srgbClr val="00B050"/>
                </a:solidFill>
                <a:latin typeface="Wingdings"/>
                <a:ea typeface="Wingdings"/>
                <a:cs typeface="Wingdings"/>
                <a:sym typeface="Wingdings"/>
              </a:defRPr>
            </a:lvl1pPr>
          </a:lstStyle>
          <a:p>
            <a:pPr>
              <a:defRPr b="1">
                <a:latin typeface="+mn-lt"/>
                <a:ea typeface="+mn-ea"/>
                <a:cs typeface="+mn-cs"/>
                <a:sym typeface="Calibri"/>
              </a:defRPr>
            </a:pPr>
            <a:r>
              <a:rPr b="0">
                <a:latin typeface="Wingdings"/>
                <a:ea typeface="Wingdings"/>
                <a:cs typeface="Wingdings"/>
                <a:sym typeface="Wingdings"/>
              </a:rPr>
              <a:t>✓</a:t>
            </a:r>
          </a:p>
        </p:txBody>
      </p:sp>
      <p:sp>
        <p:nvSpPr>
          <p:cNvPr id="365" name="TextBox 7"/>
          <p:cNvSpPr txBox="1"/>
          <p:nvPr/>
        </p:nvSpPr>
        <p:spPr>
          <a:xfrm>
            <a:off x="8492288" y="5769385"/>
            <a:ext cx="414696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ln w="19050" cap="flat">
                  <a:solidFill>
                    <a:srgbClr val="00B050"/>
                  </a:solidFill>
                  <a:prstDash val="solid"/>
                  <a:round/>
                </a:ln>
                <a:solidFill>
                  <a:srgbClr val="FFFFFF"/>
                </a:solidFill>
                <a:latin typeface="Wingdings"/>
                <a:ea typeface="Wingdings"/>
                <a:cs typeface="Wingdings"/>
                <a:sym typeface="Wingdings"/>
              </a:defRPr>
            </a:lvl1pPr>
          </a:lstStyle>
          <a:p>
            <a:pPr>
              <a:defRPr b="1">
                <a:latin typeface="+mn-lt"/>
                <a:ea typeface="+mn-ea"/>
                <a:cs typeface="+mn-cs"/>
                <a:sym typeface="Calibri"/>
              </a:defRPr>
            </a:pPr>
            <a:r>
              <a:rPr b="0">
                <a:latin typeface="Wingdings"/>
                <a:ea typeface="Wingdings"/>
                <a:cs typeface="Wingdings"/>
                <a:sym typeface="Wingdings"/>
              </a:rPr>
              <a:t>✓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Talks</a:t>
            </a:r>
          </a:p>
        </p:txBody>
      </p:sp>
      <p:sp>
        <p:nvSpPr>
          <p:cNvPr id="368" name="Tex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LangDev 2023 </a:t>
            </a:r>
            <a:r>
              <a:t>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slides</a:t>
            </a:r>
            <a:r>
              <a:t>,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video</a:t>
            </a:r>
            <a:r>
              <a:t>)</a:t>
            </a:r>
          </a:p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LangDev 2024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4" invalidUrl="" action="" tgtFrame="" tooltip="" history="1" highlightClick="0" endSnd="0"/>
              </a:rPr>
              <a:t>slides</a:t>
            </a:r>
            <a:r>
              <a:t>,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5" invalidUrl="" action="" tgtFrame="" tooltip="" history="1" highlightClick="0" endSnd="0"/>
              </a:rPr>
              <a:t>video</a:t>
            </a:r>
            <a:r>
              <a:t>)</a:t>
            </a:r>
          </a:p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SEN Symposium 2024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6" invalidUrl="" action="" tgtFrame="" tooltip="" history="1" highlightClick="0" endSnd="0"/>
              </a:rPr>
              <a:t>conference</a:t>
            </a:r>
            <a:r>
              <a:t>,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7" invalidUrl="" action="" tgtFrame="" tooltip="" history="1" highlightClick="0" endSnd="0"/>
              </a:rPr>
              <a:t>slides</a:t>
            </a:r>
            <a:r>
              <a:t>)</a:t>
            </a:r>
          </a:p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MODELS 2024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8" invalidUrl="" action="" tgtFrame="" tooltip="" history="1" highlightClick="0" endSnd="0"/>
              </a:rPr>
              <a:t>conference</a:t>
            </a:r>
            <a:r>
              <a:t>)</a:t>
            </a:r>
          </a:p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MBSE 2025 (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9" invalidUrl="" action="" tgtFrame="" tooltip="" history="1" highlightClick="0" endSnd="0"/>
              </a:rPr>
              <a:t>conference</a:t>
            </a:r>
            <a:r>
              <a:t>)</a:t>
            </a:r>
          </a:p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LangDev 2025 (???)</a:t>
            </a:r>
          </a:p>
          <a:p>
            <a:pPr/>
          </a:p>
          <a:p>
            <a:pPr/>
            <a:r>
              <a:t>Working documents</a:t>
            </a:r>
          </a:p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10" invalidUrl="" action="" tgtFrame="" tooltip="" history="1" highlightClick="0" endSnd="0"/>
              </a:rPr>
              <a:t>Roadmap</a:t>
            </a:r>
          </a:p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11" invalidUrl="" action="" tgtFrame="" tooltip="" history="1" highlightClick="0" endSnd="0"/>
              </a:rPr>
              <a:t>Reference architecture</a:t>
            </a:r>
          </a:p>
          <a:p>
            <a:pPr lvl="1" marL="685800" indent="-2286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12" invalidUrl="" action="" tgtFrame="" tooltip="" history="1" highlightClick="0" endSnd="0"/>
              </a:rPr>
              <a:t>Use cases</a:t>
            </a:r>
          </a:p>
        </p:txBody>
      </p:sp>
      <p:pic>
        <p:nvPicPr>
          <p:cNvPr id="369" name="Graphic 3" descr="Graphic 3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10931466" y="68261"/>
            <a:ext cx="1121758" cy="11277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Other talks about LionWeb @ LangDev 25</a:t>
            </a:r>
          </a:p>
        </p:txBody>
      </p:sp>
      <p:graphicFrame>
        <p:nvGraphicFramePr>
          <p:cNvPr id="372" name="Table 13"/>
          <p:cNvGraphicFramePr/>
          <p:nvPr/>
        </p:nvGraphicFramePr>
        <p:xfrm>
          <a:off x="1013479" y="1693813"/>
          <a:ext cx="10165040" cy="3952324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908755"/>
                <a:gridCol w="2244436"/>
                <a:gridCol w="2011847"/>
              </a:tblGrid>
              <a:tr h="68424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Title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Speaker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Affiliation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85835">
                <a:tc>
                  <a:txBody>
                    <a:bodyPr/>
                    <a:lstStyle/>
                    <a:p>
                      <a:pPr algn="l">
                        <a:defRPr sz="1600">
                          <a:latin typeface="Lato Bold"/>
                          <a:ea typeface="Lato Bold"/>
                          <a:cs typeface="Lato Bold"/>
                          <a:sym typeface="Lato Bold"/>
                        </a:defRPr>
                      </a:pPr>
                      <a:r>
                        <a:rPr u="sng">
                          <a:solidFill>
                            <a:srgbClr val="0563C1"/>
                          </a:solidFill>
                          <a:uFill>
                            <a:solidFill>
                              <a:srgbClr val="0563C1"/>
                            </a:solidFill>
                          </a:uFill>
                          <a:hlinkClick r:id="rId2" invalidUrl="" action="" tgtFrame="" tooltip="" history="1" highlightClick="0" endSnd="0"/>
                        </a:rPr>
                        <a:t>Protostar: an AST solution for ANTLR4 and LionWeb</a:t>
                      </a:r>
                      <a:br/>
                      <a:r>
                        <a:rPr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Thursday 9:30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Alessio Stalla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Strumenta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85835">
                <a:tc>
                  <a:txBody>
                    <a:bodyPr/>
                    <a:lstStyle/>
                    <a:p>
                      <a:pPr algn="l">
                        <a:defRPr sz="1600">
                          <a:latin typeface="Lato Bold"/>
                          <a:ea typeface="Lato Bold"/>
                          <a:cs typeface="Lato Bold"/>
                          <a:sym typeface="Lato Bold"/>
                        </a:defRPr>
                      </a:pPr>
                      <a:r>
                        <a:rPr u="sng">
                          <a:solidFill>
                            <a:srgbClr val="0563C1"/>
                          </a:solidFill>
                          <a:uFill>
                            <a:solidFill>
                              <a:srgbClr val="0563C1"/>
                            </a:solidFill>
                          </a:uFill>
                          <a:hlinkClick r:id="rId3" invalidUrl="" action="" tgtFrame="" tooltip="" history="1" highlightClick="0" endSnd="0"/>
                        </a:rPr>
                        <a:t>LionWeb’s</a:t>
                      </a:r>
                      <a:r>
                        <a:rPr u="sng">
                          <a:solidFill>
                            <a:srgbClr val="0563C1"/>
                          </a:solidFill>
                          <a:uFill>
                            <a:solidFill>
                              <a:srgbClr val="0563C1"/>
                            </a:solidFill>
                          </a:uFill>
                          <a:hlinkClick r:id="rId3" invalidUrl="" action="" tgtFrame="" tooltip="" history="1" highlightClick="0" endSnd="0"/>
                        </a:rPr>
                        <a:t> delta protocol: incremental model changes</a:t>
                      </a:r>
                    </a:p>
                    <a:p>
                      <a:pPr algn="l">
                        <a:defRPr sz="1600">
                          <a:latin typeface="Lato Regular"/>
                          <a:ea typeface="Lato Regular"/>
                          <a:cs typeface="Lato Regular"/>
                          <a:sym typeface="Lato Regular"/>
                        </a:defRPr>
                      </a:pPr>
                      <a:r>
                        <a:t>Thursday 15:00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Meinte Boersma, Niko Stotz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DSL Consultancy, F1RE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85835">
                <a:tc>
                  <a:txBody>
                    <a:bodyPr/>
                    <a:lstStyle/>
                    <a:p>
                      <a:pPr algn="l">
                        <a:defRPr sz="1600">
                          <a:latin typeface="Lato Bold"/>
                          <a:ea typeface="Lato Bold"/>
                          <a:cs typeface="Lato Bold"/>
                          <a:sym typeface="Lato Bold"/>
                        </a:defRPr>
                      </a:pPr>
                      <a:r>
                        <a:rPr u="sng">
                          <a:solidFill>
                            <a:srgbClr val="0563C1"/>
                          </a:solidFill>
                          <a:uFill>
                            <a:solidFill>
                              <a:srgbClr val="0563C1"/>
                            </a:solidFill>
                          </a:uFill>
                          <a:hlinkClick r:id="rId4" invalidUrl="" action="" tgtFrame="" tooltip="" history="1" highlightClick="0" endSnd="0"/>
                        </a:rPr>
                        <a:t>Making DSLs conversable</a:t>
                      </a:r>
                    </a:p>
                    <a:p>
                      <a:pPr algn="l">
                        <a:defRPr sz="1600">
                          <a:latin typeface="Lato Regular"/>
                          <a:ea typeface="Lato Regular"/>
                          <a:cs typeface="Lato Regular"/>
                          <a:sym typeface="Lato Regular"/>
                        </a:defRPr>
                      </a:pPr>
                      <a:r>
                        <a:t>Thursday 15:30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Krishna Narasimhan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F1RE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5285">
                <a:tc>
                  <a:txBody>
                    <a:bodyPr/>
                    <a:lstStyle/>
                    <a:p>
                      <a:pPr algn="l">
                        <a:defRPr sz="1600">
                          <a:latin typeface="Lato Bold"/>
                          <a:ea typeface="Lato Bold"/>
                          <a:cs typeface="Lato Bold"/>
                          <a:sym typeface="Lato Bold"/>
                        </a:defRPr>
                      </a:pPr>
                      <a:r>
                        <a:rPr u="sng">
                          <a:solidFill>
                            <a:srgbClr val="0563C1"/>
                          </a:solidFill>
                          <a:uFill>
                            <a:solidFill>
                              <a:srgbClr val="0563C1"/>
                            </a:solidFill>
                          </a:uFill>
                          <a:hlinkClick r:id="rId5" invalidUrl="" action="" tgtFrame="" tooltip="" history="1" highlightClick="0" endSnd="0"/>
                        </a:rPr>
                        <a:t>Freon-Powered: Crafting Web-Native DSL Editors That Wow</a:t>
                      </a:r>
                    </a:p>
                    <a:p>
                      <a:pPr algn="l">
                        <a:defRPr sz="1600">
                          <a:latin typeface="Lato Regular"/>
                          <a:ea typeface="Lato Regular"/>
                          <a:cs typeface="Lato Regular"/>
                          <a:sym typeface="Lato Regular"/>
                        </a:defRPr>
                      </a:pPr>
                      <a:r>
                        <a:t>Thursday 17:00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Jos Warmer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OpenModeling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5285">
                <a:tc>
                  <a:txBody>
                    <a:bodyPr/>
                    <a:lstStyle/>
                    <a:p>
                      <a:pPr algn="l">
                        <a:defRPr sz="1600">
                          <a:latin typeface="Lato Bold"/>
                          <a:ea typeface="Lato Bold"/>
                          <a:cs typeface="Lato Bold"/>
                          <a:sym typeface="Lato Bold"/>
                        </a:defRPr>
                      </a:pPr>
                      <a:r>
                        <a:rPr u="sng">
                          <a:solidFill>
                            <a:srgbClr val="0563C1"/>
                          </a:solidFill>
                          <a:uFill>
                            <a:solidFill>
                              <a:srgbClr val="0563C1"/>
                            </a:solidFill>
                          </a:uFill>
                          <a:hlinkClick r:id="rId6" invalidUrl="" action="" tgtFrame="" tooltip="" history="1" highlightClick="0" endSnd="0"/>
                        </a:rPr>
                        <a:t>SysML</a:t>
                      </a:r>
                      <a:r>
                        <a:rPr u="sng">
                          <a:solidFill>
                            <a:srgbClr val="0563C1"/>
                          </a:solidFill>
                          <a:uFill>
                            <a:solidFill>
                              <a:srgbClr val="0563C1"/>
                            </a:solidFill>
                          </a:uFill>
                          <a:hlinkClick r:id="rId6" invalidUrl="" action="" tgtFrame="" tooltip="" history="1" highlightClick="0" endSnd="0"/>
                        </a:rPr>
                        <a:t> v2 language in LionWeb</a:t>
                      </a:r>
                    </a:p>
                    <a:p>
                      <a:pPr algn="l">
                        <a:defRPr sz="1600">
                          <a:latin typeface="Lato Regular"/>
                          <a:ea typeface="Lato Regular"/>
                          <a:cs typeface="Lato Regular"/>
                          <a:sym typeface="Lato Regular"/>
                        </a:defRPr>
                      </a:pPr>
                      <a:r>
                        <a:t>Friday 10:10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ym typeface="Calibri"/>
                        </a:rPr>
                        <a:t>Ulyana Tikhonova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Lato Regular"/>
                          <a:ea typeface="Lato Regular"/>
                          <a:cs typeface="Lato Regular"/>
                          <a:sym typeface="Lato Regular"/>
                        </a:rPr>
                        <a:t>F1RE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Status</a:t>
            </a:r>
          </a:p>
        </p:txBody>
      </p:sp>
      <p:sp>
        <p:nvSpPr>
          <p:cNvPr id="375" name="Text Placeholder 4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376" name="Graphic 5" descr="Graphic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5121" y="3394947"/>
            <a:ext cx="1121758" cy="11277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Outreach</a:t>
            </a:r>
          </a:p>
        </p:txBody>
      </p:sp>
      <p:sp>
        <p:nvSpPr>
          <p:cNvPr id="379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New core members</a:t>
            </a:r>
          </a:p>
          <a:p>
            <a:pPr lvl="1" marL="1028700" indent="-3429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Sergey Zverlov (?affiliation)</a:t>
            </a:r>
          </a:p>
          <a:p>
            <a:pPr marL="342900" indent="-342900"/>
            <a:r>
              <a:t>Office hours</a:t>
            </a:r>
          </a:p>
          <a:p>
            <a:pPr lvl="1" marL="1028700" indent="-342900">
              <a:spcBef>
                <a:spcPts val="500"/>
              </a:spcBef>
              <a:buFont typeface="Arial"/>
              <a:defRPr sz="2000">
                <a:latin typeface="Lato Regular"/>
                <a:ea typeface="Lato Regular"/>
                <a:cs typeface="Lato Regular"/>
                <a:sym typeface="Lato Regular"/>
              </a:defRPr>
            </a:pPr>
            <a:r>
              <a:t>Once a month (every second Friday) — successful!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2026.1 version</a:t>
            </a:r>
          </a:p>
        </p:txBody>
      </p:sp>
      <p:sp>
        <p:nvSpPr>
          <p:cNvPr id="382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Released: as of now</a:t>
            </a:r>
          </a:p>
          <a:p>
            <a:pPr/>
            <a:r>
              <a:t>Main feature: delta protocol (link)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itle 1"/>
          <p:cNvSpPr txBox="1"/>
          <p:nvPr>
            <p:ph type="title"/>
          </p:nvPr>
        </p:nvSpPr>
        <p:spPr>
          <a:xfrm>
            <a:off x="0" y="0"/>
            <a:ext cx="12192000" cy="1264249"/>
          </a:xfrm>
          <a:prstGeom prst="rect">
            <a:avLst/>
          </a:prstGeom>
        </p:spPr>
        <p:txBody>
          <a:bodyPr/>
          <a:lstStyle/>
          <a:p>
            <a:pPr/>
            <a:r>
              <a:t>Delta protocol</a:t>
            </a:r>
          </a:p>
        </p:txBody>
      </p:sp>
      <p:sp>
        <p:nvSpPr>
          <p:cNvPr id="385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Released as part of 2026.1</a:t>
            </a:r>
          </a:p>
          <a:p>
            <a:pPr/>
            <a:r>
              <a:t>In heavy use </a:t>
            </a:r>
            <a:r>
              <a:rPr i="1"/>
              <a:t>in production</a:t>
            </a:r>
            <a:r>
              <a:t> at at least one customer</a:t>
            </a:r>
          </a:p>
          <a:p>
            <a:pPr lvl="1" marL="0" indent="731519">
              <a:buSzTx/>
              <a:buNone/>
            </a:pPr>
            <a:r>
              <a:t>— Spec and implementations turn out to be a very good fit</a:t>
            </a:r>
          </a:p>
          <a:p>
            <a:pPr/>
            <a:r>
              <a:t>Changes since last year:</a:t>
            </a:r>
          </a:p>
          <a:p>
            <a:pPr lvl="1" marL="0" indent="731519">
              <a:buSzTx/>
              <a:buNone/>
            </a:pPr>
            <a:r>
              <a:t>Some command and event names</a:t>
            </a:r>
          </a:p>
          <a:p>
            <a:pPr lvl="1" marL="0" indent="731519">
              <a:buSzTx/>
              <a:buNone/>
            </a:pPr>
            <a:r>
              <a:t>Chunked messages</a:t>
            </a:r>
          </a:p>
          <a:p>
            <a:pPr lvl="1" marL="0" indent="731519">
              <a:buSzTx/>
              <a:buNone/>
            </a:pPr>
            <a:r>
              <a:t>Precisely-defined errors</a:t>
            </a:r>
          </a:p>
          <a:p>
            <a:pPr lvl="1" marL="0" indent="731519">
              <a:buSzTx/>
              <a:buNone/>
            </a:pPr>
            <a:r>
              <a:t>Better spec.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cases</a:t>
            </a:r>
          </a:p>
        </p:txBody>
      </p:sp>
      <p:sp>
        <p:nvSpPr>
          <p:cNvPr id="388" name="Text Placeholder 4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algn="ctr"/>
          </a:p>
        </p:txBody>
      </p:sp>
      <p:pic>
        <p:nvPicPr>
          <p:cNvPr id="389" name="Graphic 5" descr="Graphic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5121" y="3394947"/>
            <a:ext cx="1121758" cy="11277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TextBox 7"/>
          <p:cNvGrpSpPr/>
          <p:nvPr/>
        </p:nvGrpSpPr>
        <p:grpSpPr>
          <a:xfrm>
            <a:off x="661319" y="1584359"/>
            <a:ext cx="5957642" cy="2630000"/>
            <a:chOff x="0" y="0"/>
            <a:chExt cx="5957640" cy="2629999"/>
          </a:xfrm>
        </p:grpSpPr>
        <p:sp>
          <p:nvSpPr>
            <p:cNvPr id="391" name="Rectangle"/>
            <p:cNvSpPr/>
            <p:nvPr/>
          </p:nvSpPr>
          <p:spPr>
            <a:xfrm>
              <a:off x="0" y="0"/>
              <a:ext cx="5957641" cy="2600182"/>
            </a:xfrm>
            <a:prstGeom prst="rect">
              <a:avLst/>
            </a:prstGeom>
            <a:solidFill>
              <a:srgbClr val="E6752A">
                <a:alpha val="2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tabLst>
                  <a:tab pos="2146300" algn="l"/>
                </a:tabLst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92" name="Meinte Boersma DSL Consultancy…"/>
            <p:cNvSpPr txBox="1"/>
            <p:nvPr/>
          </p:nvSpPr>
          <p:spPr>
            <a:xfrm>
              <a:off x="44999" y="0"/>
              <a:ext cx="5867642" cy="2630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  <a:p>
              <a:pPr>
                <a:defRPr>
                  <a:solidFill>
                    <a:srgbClr val="FFFFFF"/>
                  </a:solidFill>
                </a:defRPr>
              </a:pPr>
            </a:p>
            <a:p>
              <a:pPr>
                <a:tabLst>
                  <a:tab pos="21463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Meinte Boersma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DSL Consultancy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1463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Erkan Diken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Belastingdienst</a:t>
              </a:r>
            </a:p>
            <a:p>
              <a:pPr>
                <a:tabLst>
                  <a:tab pos="21463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Norman Koester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itemis (Modelix)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1463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Sergej Koscejev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Freelancer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1463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Sascha Lisson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itemis (Modelix)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1463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Pedro Molina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	Metadev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1463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Eugen Schindler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Canon Production Printing</a:t>
              </a:r>
            </a:p>
          </p:txBody>
        </p:sp>
      </p:grpSp>
      <p:sp>
        <p:nvSpPr>
          <p:cNvPr id="394" name="PlaceHolder 1"/>
          <p:cNvSpPr txBox="1"/>
          <p:nvPr>
            <p:ph type="title"/>
          </p:nvPr>
        </p:nvSpPr>
        <p:spPr>
          <a:xfrm>
            <a:off x="-1" y="-1"/>
            <a:ext cx="12191762" cy="1263962"/>
          </a:xfrm>
          <a:prstGeom prst="rect">
            <a:avLst/>
          </a:prstGeom>
        </p:spPr>
        <p:txBody>
          <a:bodyPr/>
          <a:lstStyle/>
          <a:p>
            <a:pPr/>
            <a:r>
              <a:t>Team and Contact</a:t>
            </a:r>
          </a:p>
        </p:txBody>
      </p:sp>
      <p:grpSp>
        <p:nvGrpSpPr>
          <p:cNvPr id="397" name="Title 1"/>
          <p:cNvGrpSpPr/>
          <p:nvPr/>
        </p:nvGrpSpPr>
        <p:grpSpPr>
          <a:xfrm>
            <a:off x="661319" y="1584358"/>
            <a:ext cx="1762562" cy="528812"/>
            <a:chOff x="0" y="0"/>
            <a:chExt cx="1762560" cy="528810"/>
          </a:xfrm>
        </p:grpSpPr>
        <p:sp>
          <p:nvSpPr>
            <p:cNvPr id="395" name="Rectangle"/>
            <p:cNvSpPr/>
            <p:nvPr/>
          </p:nvSpPr>
          <p:spPr>
            <a:xfrm>
              <a:off x="-1" y="0"/>
              <a:ext cx="1762562" cy="528811"/>
            </a:xfrm>
            <a:prstGeom prst="rect">
              <a:avLst/>
            </a:prstGeom>
            <a:solidFill>
              <a:srgbClr val="E6752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90000"/>
                </a:lnSpc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96" name="Team"/>
            <p:cNvSpPr txBox="1"/>
            <p:nvPr/>
          </p:nvSpPr>
          <p:spPr>
            <a:xfrm>
              <a:off x="45719" y="0"/>
              <a:ext cx="1671122" cy="5288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>
                <a:lnSpc>
                  <a:spcPct val="90000"/>
                </a:lnSpc>
                <a:defRPr sz="2400">
                  <a:ln w="9525" cap="flat">
                    <a:solidFill>
                      <a:srgbClr val="FFFFFF"/>
                    </a:solidFill>
                    <a:prstDash val="solid"/>
                    <a:round/>
                  </a:ln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defRPr>
              </a:lvl1pPr>
            </a:lstStyle>
            <a:p>
              <a:pPr/>
              <a:r>
                <a:t>Team</a:t>
              </a:r>
            </a:p>
          </p:txBody>
        </p:sp>
      </p:grpSp>
      <p:grpSp>
        <p:nvGrpSpPr>
          <p:cNvPr id="400" name="TextBox 14"/>
          <p:cNvGrpSpPr/>
          <p:nvPr/>
        </p:nvGrpSpPr>
        <p:grpSpPr>
          <a:xfrm>
            <a:off x="661319" y="4504942"/>
            <a:ext cx="10890362" cy="2141641"/>
            <a:chOff x="0" y="0"/>
            <a:chExt cx="10890360" cy="2141640"/>
          </a:xfrm>
        </p:grpSpPr>
        <p:sp>
          <p:nvSpPr>
            <p:cNvPr id="398" name="Rectangle"/>
            <p:cNvSpPr/>
            <p:nvPr/>
          </p:nvSpPr>
          <p:spPr>
            <a:xfrm>
              <a:off x="-1" y="-1"/>
              <a:ext cx="10890362" cy="2141642"/>
            </a:xfrm>
            <a:prstGeom prst="rect">
              <a:avLst/>
            </a:prstGeom>
            <a:solidFill>
              <a:srgbClr val="E6752A">
                <a:alpha val="2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99" name="Want to work with us: GitHub: Web:…"/>
            <p:cNvSpPr txBox="1"/>
            <p:nvPr/>
          </p:nvSpPr>
          <p:spPr>
            <a:xfrm>
              <a:off x="44999" y="-1"/>
              <a:ext cx="7551607" cy="2022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4999" tIns="44999" rIns="44999" bIns="44999" numCol="1" anchor="t">
              <a:spAutoFit/>
            </a:bodyPr>
            <a:lstStyle/>
            <a:p>
              <a:pPr>
                <a:defRPr sz="1400">
                  <a:solidFill>
                    <a:srgbClr val="FFFFFF"/>
                  </a:solidFill>
                </a:defRPr>
              </a:pPr>
            </a:p>
            <a:p>
              <a:pPr>
                <a:defRPr sz="1600">
                  <a:solidFill>
                    <a:srgbClr val="FFFFFF"/>
                  </a:solidFill>
                </a:defRPr>
              </a:pPr>
            </a:p>
            <a:p>
              <a:pPr>
                <a:tabLst>
                  <a:tab pos="2679700" algn="l"/>
                  <a:tab pos="5740400" algn="l"/>
                </a:tabLst>
                <a:defRPr sz="1600"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Want to work with us:	GitHub:	Web: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679700" algn="l"/>
                  <a:tab pos="5740400" algn="l"/>
                </a:tabLst>
                <a:defRPr sz="1600">
                  <a:solidFill>
                    <a:srgbClr val="0563C1"/>
                  </a:solidFill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 </a:t>
              </a:r>
              <a:r>
                <a:rPr u="sng">
                  <a:uFill>
                    <a:solidFill>
                      <a:srgbClr val="0563C1"/>
                    </a:solidFill>
                  </a:uFill>
                  <a:latin typeface="Lato Regular"/>
                  <a:ea typeface="Lato Regular"/>
                  <a:cs typeface="Lato Regular"/>
                  <a:sym typeface="Lato Regular"/>
                  <a:hlinkClick r:id="rId2" invalidUrl="" action="" tgtFrame="" tooltip="" history="1" highlightClick="0" endSnd="0"/>
                </a:rPr>
                <a:t>info@lionweb.io</a:t>
              </a:r>
              <a:r>
                <a:t>	 </a:t>
              </a:r>
              <a:r>
                <a:rPr u="sng">
                  <a:uFill>
                    <a:solidFill>
                      <a:srgbClr val="0563C1"/>
                    </a:solidFill>
                  </a:uFill>
                  <a:latin typeface="Lato Regular"/>
                  <a:ea typeface="Lato Regular"/>
                  <a:cs typeface="Lato Regular"/>
                  <a:sym typeface="Lato Regular"/>
                  <a:hlinkClick r:id="rId3" invalidUrl="" action="" tgtFrame="" tooltip="" history="1" highlightClick="0" endSnd="0"/>
                </a:rPr>
                <a:t>https://github.com/LionWeb-io</a:t>
              </a:r>
              <a:r>
                <a:rPr>
                  <a:solidFill>
                    <a:srgbClr val="000000"/>
                  </a:solidFill>
                  <a:latin typeface="Lato Regular"/>
                  <a:ea typeface="Lato Regular"/>
                  <a:cs typeface="Lato Regular"/>
                  <a:sym typeface="Lato Regular"/>
                </a:rPr>
                <a:t> 	 </a:t>
              </a:r>
              <a:r>
                <a:rPr u="sng">
                  <a:uFill>
                    <a:solidFill>
                      <a:srgbClr val="0563C1"/>
                    </a:solidFill>
                  </a:uFill>
                  <a:latin typeface="Lato Regular"/>
                  <a:ea typeface="Lato Regular"/>
                  <a:cs typeface="Lato Regular"/>
                  <a:sym typeface="Lato Regular"/>
                  <a:hlinkClick r:id="rId4" invalidUrl="" action="" tgtFrame="" tooltip="" history="1" highlightClick="0" endSnd="0"/>
                </a:rPr>
                <a:t>https://lionweb.io/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FFFFFF"/>
                  </a:solidFill>
                </a:defRPr>
              </a:pPr>
            </a:p>
            <a:p>
              <a:pPr>
                <a:defRPr sz="1600">
                  <a:solidFill>
                    <a:srgbClr val="FFFFFF"/>
                  </a:solidFill>
                </a:defRPr>
              </a:pPr>
            </a:p>
            <a:p>
              <a:pPr>
                <a:defRPr sz="1600"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Slack to follow us, use, or implement LionWeb:</a:t>
              </a:r>
            </a:p>
            <a:p>
              <a:pPr>
                <a:defRPr sz="1600">
                  <a:solidFill>
                    <a:srgbClr val="FFFFFF"/>
                  </a:solidFill>
                </a:defRPr>
              </a:pPr>
              <a:r>
                <a:rPr u="sng">
                  <a:solidFill>
                    <a:srgbClr val="0563C1"/>
                  </a:solidFill>
                  <a:uFill>
                    <a:solidFill>
                      <a:srgbClr val="0563C1"/>
                    </a:solidFill>
                  </a:uFill>
                  <a:hlinkClick r:id="rId5" invalidUrl="" action="" tgtFrame="" tooltip="" history="1" highlightClick="0" endSnd="0"/>
                </a:rPr>
                <a:t>https://join.slack.com/t/lionweb/shared_invite/zt-2k1k5bsv7-EvC2IABIgSxWrqJNVOZ0HQ</a:t>
              </a:r>
            </a:p>
          </p:txBody>
        </p:sp>
      </p:grpSp>
      <p:grpSp>
        <p:nvGrpSpPr>
          <p:cNvPr id="403" name="Title 1"/>
          <p:cNvGrpSpPr/>
          <p:nvPr/>
        </p:nvGrpSpPr>
        <p:grpSpPr>
          <a:xfrm>
            <a:off x="661319" y="4504942"/>
            <a:ext cx="1762562" cy="424801"/>
            <a:chOff x="0" y="0"/>
            <a:chExt cx="1762560" cy="424799"/>
          </a:xfrm>
        </p:grpSpPr>
        <p:sp>
          <p:nvSpPr>
            <p:cNvPr id="401" name="Rectangle"/>
            <p:cNvSpPr/>
            <p:nvPr/>
          </p:nvSpPr>
          <p:spPr>
            <a:xfrm>
              <a:off x="-1" y="0"/>
              <a:ext cx="1762562" cy="424800"/>
            </a:xfrm>
            <a:prstGeom prst="rect">
              <a:avLst/>
            </a:prstGeom>
            <a:solidFill>
              <a:srgbClr val="E6752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90000"/>
                </a:lnSpc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2" name="Contact"/>
            <p:cNvSpPr txBox="1"/>
            <p:nvPr/>
          </p:nvSpPr>
          <p:spPr>
            <a:xfrm>
              <a:off x="45719" y="0"/>
              <a:ext cx="1671122" cy="424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 fontScale="100000" lnSpcReduction="0"/>
            </a:bodyPr>
            <a:lstStyle>
              <a:lvl1pPr algn="ctr" defTabSz="822959">
                <a:lnSpc>
                  <a:spcPct val="90000"/>
                </a:lnSpc>
                <a:defRPr sz="2159">
                  <a:ln w="9525" cap="flat">
                    <a:solidFill>
                      <a:srgbClr val="FFFFFF"/>
                    </a:solidFill>
                    <a:prstDash val="solid"/>
                    <a:round/>
                  </a:ln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defRPr>
              </a:lvl1pPr>
            </a:lstStyle>
            <a:p>
              <a:pPr/>
              <a:r>
                <a:t>Contact</a:t>
              </a:r>
            </a:p>
          </p:txBody>
        </p:sp>
      </p:grpSp>
      <p:grpSp>
        <p:nvGrpSpPr>
          <p:cNvPr id="406" name="TextBox 15"/>
          <p:cNvGrpSpPr/>
          <p:nvPr/>
        </p:nvGrpSpPr>
        <p:grpSpPr>
          <a:xfrm>
            <a:off x="6619319" y="1584359"/>
            <a:ext cx="4932362" cy="2630000"/>
            <a:chOff x="0" y="0"/>
            <a:chExt cx="4932360" cy="2629999"/>
          </a:xfrm>
        </p:grpSpPr>
        <p:sp>
          <p:nvSpPr>
            <p:cNvPr id="404" name="Rectangle"/>
            <p:cNvSpPr/>
            <p:nvPr/>
          </p:nvSpPr>
          <p:spPr>
            <a:xfrm>
              <a:off x="-1" y="0"/>
              <a:ext cx="4932362" cy="2600182"/>
            </a:xfrm>
            <a:prstGeom prst="rect">
              <a:avLst/>
            </a:prstGeom>
            <a:solidFill>
              <a:srgbClr val="E6752A">
                <a:alpha val="2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tabLst>
                  <a:tab pos="2501900" algn="l"/>
                </a:tabLst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5" name="Alex Shatalin JetBrains (MPS)…"/>
            <p:cNvSpPr txBox="1"/>
            <p:nvPr/>
          </p:nvSpPr>
          <p:spPr>
            <a:xfrm>
              <a:off x="44999" y="0"/>
              <a:ext cx="4842362" cy="2630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4999" tIns="44999" rIns="44999" bIns="44999" numCol="1" anchor="t">
              <a:sp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  <a:p>
              <a:pPr>
                <a:defRPr>
                  <a:solidFill>
                    <a:srgbClr val="FFFFFF"/>
                  </a:solidFill>
                </a:defRPr>
              </a:pPr>
            </a:p>
            <a:p>
              <a:pPr>
                <a:tabLst>
                  <a:tab pos="25019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Alex Shatalin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JetBrains (MPS)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5019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Niko Stotz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F1RE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5019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Federico Tomassetti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Strumenta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5019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Markus Voelter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Freelancer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5019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Ulyana Tikhonova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F1RE</a:t>
              </a:r>
              <a:endParaRPr>
                <a:solidFill>
                  <a:srgbClr val="FFFFFF"/>
                </a:solidFill>
              </a:endParaRPr>
            </a:p>
            <a:p>
              <a:pPr>
                <a:tabLst>
                  <a:tab pos="2501900" algn="l"/>
                </a:tabLst>
                <a:defRPr>
                  <a:latin typeface="Lato Bold"/>
                  <a:ea typeface="Lato Bold"/>
                  <a:cs typeface="Lato Bold"/>
                  <a:sym typeface="Lato Bold"/>
                </a:defRPr>
              </a:pPr>
              <a:r>
                <a:t>Jos Warmer	</a:t>
              </a: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Freelancer (Freon)</a:t>
              </a:r>
              <a:br>
                <a:rPr>
                  <a:latin typeface="Lato Regular"/>
                  <a:ea typeface="Lato Regular"/>
                  <a:cs typeface="Lato Regular"/>
                  <a:sym typeface="Lato Regular"/>
                </a:rPr>
              </a:br>
              <a:r>
                <a:rPr>
                  <a:latin typeface="Lato Regular"/>
                  <a:ea typeface="Lato Regular"/>
                  <a:cs typeface="Lato Regular"/>
                  <a:sym typeface="Lato Regular"/>
                </a:rPr>
                <a:t>Sergej Zverlov                  ???</a:t>
              </a:r>
            </a:p>
          </p:txBody>
        </p:sp>
      </p:grpSp>
      <p:pic>
        <p:nvPicPr>
          <p:cNvPr id="407" name="Picture 3" descr="Pictur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470520" y="4577662"/>
            <a:ext cx="1998361" cy="199836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8" name="Graphic 6" descr="Graphic 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931400" y="68399"/>
            <a:ext cx="1121401" cy="11275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